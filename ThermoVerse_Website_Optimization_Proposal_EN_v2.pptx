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jpe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5240000" cy="8572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 name="Shape 25"/>
          <p:cNvSpPr/>
          <p:nvPr>
            <p:ph type="sldImg"/>
          </p:nvPr>
        </p:nvSpPr>
        <p:spPr>
          <a:prstGeom prst="rect">
            <a:avLst/>
          </a:prstGeom>
        </p:spPr>
        <p:txBody>
          <a:bodyPr/>
          <a:lstStyle/>
          <a:p>
            <a:pPr/>
          </a:p>
        </p:txBody>
      </p:sp>
      <p:sp>
        <p:nvSpPr>
          <p:cNvPr id="26" name="Shape 26"/>
          <p:cNvSpPr/>
          <p:nvPr>
            <p:ph type="body" sz="quarter" idx="1"/>
          </p:nvPr>
        </p:nvSpPr>
        <p:spPr>
          <a:prstGeom prst="rect">
            <a:avLst/>
          </a:prstGeom>
        </p:spPr>
        <p:txBody>
          <a:bodyPr/>
          <a:lstStyle/>
          <a:p>
            <a:pPr/>
            <a:r>
              <a:t>This proposal covers five pages in Traditional Chinese and English, plus basic CRM lead management. FACES becomes a section within About Us. The September 14 target depends on assets, access and tool selection by September 9 and timely client decisions. The cover image comes from the current website and does not represent a new project result.</a:t>
            </a:r>
          </a:p>
          <a:p>
            <a:pPr/>
          </a:p>
          <a:p>
            <a:pPr/>
            <a:r>
              <a:t>Content status: proposed website improvements. Distinguish existing website statements from proposed additions.</a:t>
            </a:r>
          </a:p>
          <a:p>
            <a:pPr/>
            <a:r>
              <a:t>Source: https://www.thermoverse.com/about (reviewed 2026-09-08)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Shape 41"/>
          <p:cNvSpPr/>
          <p:nvPr>
            <p:ph type="sldImg"/>
          </p:nvPr>
        </p:nvSpPr>
        <p:spPr>
          <a:prstGeom prst="rect">
            <a:avLst/>
          </a:prstGeom>
        </p:spPr>
        <p:txBody>
          <a:bodyPr/>
          <a:lstStyle/>
          <a:p>
            <a:pPr/>
          </a:p>
        </p:txBody>
      </p:sp>
      <p:sp>
        <p:nvSpPr>
          <p:cNvPr id="42" name="Shape 42"/>
          <p:cNvSpPr/>
          <p:nvPr>
            <p:ph type="body" sz="quarter" idx="1"/>
          </p:nvPr>
        </p:nvSpPr>
        <p:spPr>
          <a:prstGeom prst="rect">
            <a:avLst/>
          </a:prstGeom>
        </p:spPr>
        <p:txBody>
          <a:bodyPr/>
          <a:lstStyle/>
          <a:p>
            <a:pPr/>
            <a:r>
              <a:t>The current homepage emphasizes smart-city positioning and imagery. On September 8, 2026, /innovation and /energyservices displayed page-not-found messages. The proposal addresses content and lead capture. Traffic and conversion performance have not been established; observe them after launch without promising an unverified uplift.</a:t>
            </a:r>
          </a:p>
          <a:p>
            <a:pPr/>
          </a:p>
          <a:p>
            <a:pPr/>
            <a:r>
              <a:t>Content status: proposed website improvements. Distinguish existing website statements from proposed additions.</a:t>
            </a:r>
          </a:p>
          <a:p>
            <a:pPr/>
            <a:r>
              <a:t>Source: https://www.thermoverse.com/ (reviewed 2026-09-08)</a:t>
            </a:r>
          </a:p>
          <a:p>
            <a:pPr/>
            <a:r>
              <a:t>Source: https://www.thermoverse.com/innovation (reviewed 2026-09-08)</a:t>
            </a:r>
          </a:p>
          <a:p>
            <a:pPr/>
            <a:r>
              <a:t>Source: https://www.thermoverse.com/energyservices (reviewed 2026-09-08)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 name="Shape 54"/>
          <p:cNvSpPr/>
          <p:nvPr>
            <p:ph type="sldImg"/>
          </p:nvPr>
        </p:nvSpPr>
        <p:spPr>
          <a:prstGeom prst="rect">
            <a:avLst/>
          </a:prstGeom>
        </p:spPr>
        <p:txBody>
          <a:bodyPr/>
          <a:lstStyle/>
          <a:p>
            <a:pPr/>
          </a:p>
        </p:txBody>
      </p:sp>
      <p:sp>
        <p:nvSpPr>
          <p:cNvPr id="55" name="Shape 55"/>
          <p:cNvSpPr/>
          <p:nvPr>
            <p:ph type="body" sz="quarter" idx="1"/>
          </p:nvPr>
        </p:nvSpPr>
        <p:spPr>
          <a:prstGeom prst="rect">
            <a:avLst/>
          </a:prstGeom>
        </p:spPr>
        <p:txBody>
          <a:bodyPr/>
          <a:lstStyle/>
          <a:p>
            <a:pPr/>
            <a:r>
              <a:t>The fixed navigation is Home, Technology, Use Cases, About Us and Contact Us. FACES becomes a dedicated section within About Us rather than a primary navigation page. Technology and talent journeys share one contact and CRM workflow. Language switching keeps visitors on the corresponding page. Store source page separately from inquiry type; allow visitors to change the preselected type. Arrows show proposed visitor journeys.</a:t>
            </a:r>
          </a:p>
          <a:p>
            <a:pPr/>
          </a:p>
          <a:p>
            <a:pPr/>
            <a:r>
              <a:t>Content status: proposed website improvements. Distinguish existing website statements from proposed additions.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 name="Shape 79"/>
          <p:cNvSpPr/>
          <p:nvPr>
            <p:ph type="sldImg"/>
          </p:nvPr>
        </p:nvSpPr>
        <p:spPr>
          <a:prstGeom prst="rect">
            <a:avLst/>
          </a:prstGeom>
        </p:spPr>
        <p:txBody>
          <a:bodyPr/>
          <a:lstStyle/>
          <a:p>
            <a:pPr/>
          </a:p>
        </p:txBody>
      </p:sp>
      <p:sp>
        <p:nvSpPr>
          <p:cNvPr id="80" name="Shape 80"/>
          <p:cNvSpPr/>
          <p:nvPr>
            <p:ph type="body" sz="quarter" idx="1"/>
          </p:nvPr>
        </p:nvSpPr>
        <p:spPr>
          <a:prstGeom prst="rect">
            <a:avLst/>
          </a:prstGeom>
        </p:spPr>
        <p:txBody>
          <a:bodyPr/>
          <a:lstStyle/>
          <a:p>
            <a:pPr/>
            <a:r>
              <a:t>The homepage adds a carbon value proposition: ThermoVerse aims to reduce building energy demand and measurable emissions through thermal management. Verified reductions may support carbon-credit eligibility or corporate carbon management when the applicable methodology, baseline, additionality, verification and registry requirements are met. The website must not guarantee credits or a quantity. Content order: 1 Hero and carbon value. 2 Building energy problem. 3 SIMs summary. 4 Application entry points. 5 Measured reductions and credit eligibility. 6 About Us and FACES entry. Primary CTA: Discuss a Project. Secondary CTA: Explore Our Technology.</a:t>
            </a:r>
          </a:p>
          <a:p>
            <a:pPr/>
          </a:p>
          <a:p>
            <a:pPr/>
            <a:r>
              <a:t>Content status: proposed website improvements. Distinguish existing website statements from proposed additions.</a:t>
            </a:r>
          </a:p>
          <a:p>
            <a:pPr/>
            <a:r>
              <a:t>Source: https://www.thermoverse.com/ (reviewed 2026-09-08)</a:t>
            </a:r>
          </a:p>
          <a:p>
            <a:pPr/>
            <a:r>
              <a:t>Source: https://www.thermoverse.com/about (reviewed 2026-09-08)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Shape 104"/>
          <p:cNvSpPr/>
          <p:nvPr>
            <p:ph type="sldImg"/>
          </p:nvPr>
        </p:nvSpPr>
        <p:spPr>
          <a:prstGeom prst="rect">
            <a:avLst/>
          </a:prstGeom>
        </p:spPr>
        <p:txBody>
          <a:bodyPr/>
          <a:lstStyle/>
          <a:p>
            <a:pPr/>
          </a:p>
        </p:txBody>
      </p:sp>
      <p:sp>
        <p:nvSpPr>
          <p:cNvPr id="105" name="Shape 105"/>
          <p:cNvSpPr/>
          <p:nvPr>
            <p:ph type="body" sz="quarter" idx="1"/>
          </p:nvPr>
        </p:nvSpPr>
        <p:spPr>
          <a:prstGeom prst="rect">
            <a:avLst/>
          </a:prstGeom>
        </p:spPr>
        <p:txBody>
          <a:bodyPr/>
          <a:lstStyle/>
          <a:p>
            <a:pPr/>
            <a:r>
              <a:t>The About page describes SIMs integrating sensing, thermal storage and control in ceilings and walls, along with phase-change materials, demand response and time-of-use optimization. The new page will explain these with a process and placement illustration. Product specifications and compatibility are not established here. FAQs cover building suitability, existing systems, operational data and assessment steps. Client approval is required for maturity, patent, compatibility and performance claims. Primary CTA: Discuss Your Requirements.</a:t>
            </a:r>
          </a:p>
          <a:p>
            <a:pPr/>
          </a:p>
          <a:p>
            <a:pPr/>
            <a:r>
              <a:t>Content status: proposed website improvements. Distinguish existing website statements from proposed additions.</a:t>
            </a:r>
          </a:p>
          <a:p>
            <a:pPr/>
            <a:r>
              <a:t>Source: https://www.thermoverse.com/about (reviewed 2026-09-08)</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The primary purpose of Use Cases changes to recruiting POC site partners across commercial, industrial and multifamily buildings. Explain each site challenge, potential application, validation value and initial assessment inputs. State partner requirements: an assessable site, available energy or HVAC baseline data, a designated contact, permission for necessary installation and measurement, and joint agreement on scope, period, metrics and data use. The application form captures site type, location, building size, HVAC system, available data, target timing and contact person. This is partnership recruitment, not evidence of completed client projects, and it does not guarantee energy savings, emissions reductions or carbon credits. Primary CTA: Apply to Become a POC Site Partner.</a:t>
            </a:r>
          </a:p>
          <a:p>
            <a:pPr/>
          </a:p>
          <a:p>
            <a:pPr/>
            <a:r>
              <a:t>Content status: proposed website improvements. Distinguish existing website statements from proposed additions.</a:t>
            </a:r>
          </a:p>
          <a:p>
            <a:pPr/>
            <a:r>
              <a:t>Source: https://www.thermoverse.com/about (reviewed 2026-09-08)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Shape 141"/>
          <p:cNvSpPr/>
          <p:nvPr>
            <p:ph type="sldImg"/>
          </p:nvPr>
        </p:nvSpPr>
        <p:spPr>
          <a:prstGeom prst="rect">
            <a:avLst/>
          </a:prstGeom>
        </p:spPr>
        <p:txBody>
          <a:bodyPr/>
          <a:lstStyle/>
          <a:p>
            <a:pPr/>
          </a:p>
        </p:txBody>
      </p:sp>
      <p:sp>
        <p:nvSpPr>
          <p:cNvPr id="142" name="Shape 142"/>
          <p:cNvSpPr/>
          <p:nvPr>
            <p:ph type="body" sz="quarter" idx="1"/>
          </p:nvPr>
        </p:nvSpPr>
        <p:spPr>
          <a:prstGeom prst="rect">
            <a:avLst/>
          </a:prstGeom>
        </p:spPr>
        <p:txBody>
          <a:bodyPr/>
          <a:lstStyle/>
          <a:p>
            <a:pPr/>
            <a:r>
              <a:t>The current About page states that Shantonio Birch founded ThermoVerse in 2022. The redesigned page covers positioning, origins, founder, research and deployment milestones, team and research partnerships, values, the FACES program, location and contact. FACES is a full section on this page and can be reached through an anchor link from the homepage or in-page navigation. The website’s 2027 expansion objective is a future target, not an achieved result. Client approval is required for logos, profiles and partnership statements. Primary CTA: Connect with Our Team.</a:t>
            </a:r>
          </a:p>
          <a:p>
            <a:pPr/>
          </a:p>
          <a:p>
            <a:pPr/>
            <a:r>
              <a:t>Content status: proposed website improvements. Distinguish existing website statements from proposed additions.</a:t>
            </a:r>
          </a:p>
          <a:p>
            <a:pPr/>
            <a:r>
              <a:t>Source: https://www.thermoverse.com/about (reviewed 2026-09-08)</a:t>
            </a:r>
          </a:p>
          <a:p>
            <a:pPr/>
            <a:r>
              <a:t>Source: https://www.thermoverse.com/faces (reviewed 2026-09-08)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FACES is no longer a primary-navigation page. It becomes a complete section within About Us after the company background, team and values. The section explains the program, audience, training, participation steps, approved stories and FAQs. Do not promise unconfirmed dates, fees, eligibility or employment outcomes. The first release collects interest and partnership inquiries; full recruitment, resume uploads and screening are excluded. Primary CTA: Register Your Interest. The workshop image comes from the website and must not be labeled as evidence of a specific cohort.</a:t>
            </a:r>
          </a:p>
          <a:p>
            <a:pPr/>
          </a:p>
          <a:p>
            <a:pPr/>
            <a:r>
              <a:t>Content status: proposed website improvements. Distinguish existing website statements from proposed additions.</a:t>
            </a:r>
          </a:p>
          <a:p>
            <a:pPr/>
            <a:r>
              <a:t>Source: https://www.thermoverse.com/faces (reviewed 2026-09-08)</a:t>
            </a:r>
          </a:p>
          <a:p>
            <a:pPr/>
            <a:r>
              <a:t>Source: https://www.thermoverse.com/about (reviewed 2026-09-08)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Page actions lead to Contact Us with an editable preselected inquiry type. Require name, email, type and message. Organization and role are optional. Use four categories: POC site partnership, technology inquiry, FACES interest and other. Selecting POC site partnership reveals site type, location, building size, HVAC system, available data and target timing. Explain data use and link the client-approved privacy policy. Marketing consent is optional and unchecked. Show success only when capture is confirmed. Preserve input on failure and allow retry. Do not publish an unconfirmed response SLA.</a:t>
            </a:r>
          </a:p>
          <a:p>
            <a:pPr/>
          </a:p>
          <a:p>
            <a:pPr/>
            <a:r>
              <a:t>Content status: proposed website improvements. Distinguish existing website statements from proposed additions.</a:t>
            </a:r>
          </a:p>
          <a:p>
            <a:pPr/>
            <a:r>
              <a:t>Source: https://www.thermoverse.com/contactus (reviewed 2026-09-08)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After successful capture, save the inquiry and notify the designated owner. Admins log in to follow up. Store name, email, organization, optional role, message, timestamp, source page, language, type and marketing choice. Provide list/detail views, search, filters, notes, CSV export and status updates. Statuses are New, Contacted, Following up and Closed. Keep repeat inquiries from an email rather than overwriting prior messages. All website forms use one capture workflow. Select the CRM by September 9 based on the existing website, accounts, costs and integration conditions; no vendor is committed here. Marketing automation, quoting and a full sales pipeline are excluded. A notification failure must not lose a saved inquiry.</a:t>
            </a:r>
          </a:p>
          <a:p>
            <a:pPr/>
          </a:p>
          <a:p>
            <a:pPr/>
            <a:r>
              <a:t>Content status: proposed website improvements. Distinguish existing website statements from proposed additions.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r>
              <a:t>Deliver five pages in Traditional Chinese and English, for 10 localized pages. FACES is an anchored section within About Us. Translate navigation, body copy, CTAs, form labels, validation, success/failure messages and SEO titles/descriptions. Keep brand, technology, emissions and carbon-credit terminology consistent. Verify desktop/mobile layout, page-preserving language switching, navigation, URL preservation or redirects, POC site categorization, successful CRM capture, input retention on failure, owner notification, spam protection, login restrictions, search/filters, status/notes, CSV export and repeat inquiries. Deliver admin instructions and a basic handover. Observe commercial, emissions and conversion outcomes after launch and the POC.</a:t>
            </a:r>
          </a:p>
          <a:p>
            <a:pPr/>
          </a:p>
          <a:p>
            <a:pPr/>
            <a:r>
              <a:t>Content status: proposed website improvements. Distinguish existing website statements from proposed additions.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hape 220"/>
          <p:cNvSpPr/>
          <p:nvPr>
            <p:ph type="sldImg"/>
          </p:nvPr>
        </p:nvSpPr>
        <p:spPr>
          <a:prstGeom prst="rect">
            <a:avLst/>
          </a:prstGeom>
        </p:spPr>
        <p:txBody>
          <a:bodyPr/>
          <a:lstStyle/>
          <a:p>
            <a:pPr/>
          </a:p>
        </p:txBody>
      </p:sp>
      <p:sp>
        <p:nvSpPr>
          <p:cNvPr id="221" name="Shape 221"/>
          <p:cNvSpPr/>
          <p:nvPr>
            <p:ph type="body" sz="quarter" idx="1"/>
          </p:nvPr>
        </p:nvSpPr>
        <p:spPr>
          <a:prstGeom prst="rect">
            <a:avLst/>
          </a:prstGeom>
        </p:spPr>
        <p:txBody>
          <a:bodyPr/>
          <a:lstStyle/>
          <a:p>
            <a:pPr/>
            <a:r>
              <a:t>The project targets completion of a bilingual five-page website and basic CRM on September 14, 2026. FACES moves into About Us, and Use Cases recruits POC site partners. Sep 8: proposal and five-page architecture. Sep 9: copy, brand, carbon and technical evidence, access and CRM selection. Sep 10: homepage carbon-credit narrative, POC recruitment content, inner-page structure and English copy. Sep 11: five-page draft, POC form and CRM capture/admin. Sep 12: bilingual/mobile integration, notifications and SEO. Sep 13: client acceptance and one consolidated revision, including languages, links, POC form and CRM testing. Sep 14: final checks, delivery, client-confirmed launch and handover. Dependencies: same-day decisions and critical assets/access by Sep 9. Emissions reductions and carbon-credit eligibility require an applicable methodology, baseline, measurement, verification and program. Delayed critical access or data requires scope/date adjustment. This is a proposed schedule, not a statement that the website is already built.</a:t>
            </a:r>
          </a:p>
          <a:p>
            <a:pPr/>
          </a:p>
          <a:p>
            <a:pPr/>
            <a:r>
              <a:t>Content status: proposed website improvements. Distinguish existing website statements from proposed additions.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143000" y="2305843"/>
            <a:ext cx="12954000" cy="255190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2286000" y="4857750"/>
            <a:ext cx="10668000" cy="37147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366000" y="7716837"/>
            <a:ext cx="3556000" cy="457201"/>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pic>
        <p:nvPicPr>
          <p:cNvPr id="20" name="image.png" descr="image.png"/>
          <p:cNvPicPr>
            <a:picLocks noChangeAspect="1"/>
          </p:cNvPicPr>
          <p:nvPr/>
        </p:nvPicPr>
        <p:blipFill>
          <a:blip r:embed="rId3">
            <a:extLst/>
          </a:blip>
          <a:srcRect l="25926" t="0" r="25926" b="0"/>
          <a:stretch>
            <a:fillRect/>
          </a:stretch>
        </p:blipFill>
        <p:spPr>
          <a:xfrm>
            <a:off x="9048749" y="0"/>
            <a:ext cx="6191252" cy="8572500"/>
          </a:xfrm>
          <a:prstGeom prst="rect">
            <a:avLst/>
          </a:prstGeom>
          <a:ln w="12700">
            <a:miter lim="400000"/>
          </a:ln>
        </p:spPr>
      </p:pic>
      <p:pic>
        <p:nvPicPr>
          <p:cNvPr id="21" name="image2.png" descr="image2.png"/>
          <p:cNvPicPr>
            <a:picLocks noChangeAspect="1"/>
          </p:cNvPicPr>
          <p:nvPr/>
        </p:nvPicPr>
        <p:blipFill>
          <a:blip r:embed="rId4">
            <a:extLst/>
          </a:blip>
          <a:stretch>
            <a:fillRect/>
          </a:stretch>
        </p:blipFill>
        <p:spPr>
          <a:xfrm>
            <a:off x="685800" y="670213"/>
            <a:ext cx="4762500" cy="736024"/>
          </a:xfrm>
          <a:prstGeom prst="rect">
            <a:avLst/>
          </a:prstGeom>
          <a:ln w="12700">
            <a:miter lim="400000"/>
          </a:ln>
        </p:spPr>
      </p:pic>
      <p:sp>
        <p:nvSpPr>
          <p:cNvPr id="22" name="text-0"/>
          <p:cNvSpPr txBox="1"/>
          <p:nvPr/>
        </p:nvSpPr>
        <p:spPr>
          <a:xfrm>
            <a:off x="685800" y="2514600"/>
            <a:ext cx="7715250" cy="23397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5400">
                <a:solidFill>
                  <a:srgbClr val="26353B"/>
                </a:solidFill>
                <a:latin typeface="Arial"/>
                <a:ea typeface="Arial"/>
                <a:cs typeface="Arial"/>
                <a:sym typeface="Arial"/>
              </a:defRPr>
            </a:pPr>
            <a:r>
              <a:t>Website</a:t>
            </a:r>
          </a:p>
          <a:p>
            <a:pPr>
              <a:defRPr b="1" sz="5400">
                <a:solidFill>
                  <a:srgbClr val="26353B"/>
                </a:solidFill>
                <a:latin typeface="Arial"/>
                <a:ea typeface="Arial"/>
                <a:cs typeface="Arial"/>
                <a:sym typeface="Arial"/>
              </a:defRPr>
            </a:pPr>
            <a:r>
              <a:t>Optimization</a:t>
            </a:r>
          </a:p>
          <a:p>
            <a:pPr>
              <a:defRPr b="1" sz="5400">
                <a:solidFill>
                  <a:srgbClr val="26353B"/>
                </a:solidFill>
                <a:latin typeface="Arial"/>
                <a:ea typeface="Arial"/>
                <a:cs typeface="Arial"/>
                <a:sym typeface="Arial"/>
              </a:defRPr>
            </a:pPr>
            <a:r>
              <a:t>Proposal</a:t>
            </a:r>
          </a:p>
        </p:txBody>
      </p:sp>
      <p:sp>
        <p:nvSpPr>
          <p:cNvPr id="23" name="text-1"/>
          <p:cNvSpPr txBox="1"/>
          <p:nvPr/>
        </p:nvSpPr>
        <p:spPr>
          <a:xfrm>
            <a:off x="685800" y="5667375"/>
            <a:ext cx="7524750" cy="6512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200">
                <a:solidFill>
                  <a:srgbClr val="367C79"/>
                </a:solidFill>
                <a:latin typeface="Arial"/>
                <a:ea typeface="Arial"/>
                <a:cs typeface="Arial"/>
                <a:sym typeface="Arial"/>
              </a:defRPr>
            </a:pPr>
            <a:r>
              <a:t>Bilingual website, content architecture</a:t>
            </a:r>
          </a:p>
          <a:p>
            <a:pPr>
              <a:defRPr sz="2200">
                <a:solidFill>
                  <a:srgbClr val="367C79"/>
                </a:solidFill>
                <a:latin typeface="Arial"/>
                <a:ea typeface="Arial"/>
                <a:cs typeface="Arial"/>
                <a:sym typeface="Arial"/>
              </a:defRPr>
            </a:pPr>
            <a:r>
              <a:t>and lead management</a:t>
            </a:r>
          </a:p>
        </p:txBody>
      </p:sp>
      <p:sp>
        <p:nvSpPr>
          <p:cNvPr id="24" name="text-2"/>
          <p:cNvSpPr txBox="1"/>
          <p:nvPr/>
        </p:nvSpPr>
        <p:spPr>
          <a:xfrm>
            <a:off x="685800" y="7162800"/>
            <a:ext cx="762000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647478"/>
                </a:solidFill>
                <a:latin typeface="Arial"/>
                <a:ea typeface="Arial"/>
                <a:cs typeface="Arial"/>
                <a:sym typeface="Arial"/>
              </a:defRPr>
            </a:pPr>
            <a:r>
              <a:t>Proposal  08 September 2026</a:t>
            </a:r>
          </a:p>
          <a:p>
            <a:pPr>
              <a:defRPr>
                <a:solidFill>
                  <a:srgbClr val="647478"/>
                </a:solidFill>
                <a:latin typeface="Arial"/>
                <a:ea typeface="Arial"/>
                <a:cs typeface="Arial"/>
                <a:sym typeface="Arial"/>
              </a:defRPr>
            </a:pPr>
            <a:r>
              <a:t>Target delivery  14 September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28"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Help visitors understand the technology and inquire</a:t>
            </a:r>
          </a:p>
        </p:txBody>
      </p:sp>
      <p:sp>
        <p:nvSpPr>
          <p:cNvPr id="29" name="text-1"/>
          <p:cNvSpPr txBox="1"/>
          <p:nvPr/>
        </p:nvSpPr>
        <p:spPr>
          <a:xfrm>
            <a:off x="685800" y="1504950"/>
            <a:ext cx="138684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Priorities: clearer content, working navigation and trackable inquiries</a:t>
            </a:r>
          </a:p>
        </p:txBody>
      </p:sp>
      <p:sp>
        <p:nvSpPr>
          <p:cNvPr id="30"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31"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02</a:t>
            </a:r>
          </a:p>
        </p:txBody>
      </p:sp>
      <p:pic>
        <p:nvPicPr>
          <p:cNvPr id="32" name="image.jpeg" descr="image.jpeg"/>
          <p:cNvPicPr>
            <a:picLocks noChangeAspect="1"/>
          </p:cNvPicPr>
          <p:nvPr/>
        </p:nvPicPr>
        <p:blipFill>
          <a:blip r:embed="rId3">
            <a:extLst/>
          </a:blip>
          <a:stretch>
            <a:fillRect/>
          </a:stretch>
        </p:blipFill>
        <p:spPr>
          <a:xfrm>
            <a:off x="685800" y="2429469"/>
            <a:ext cx="7143750" cy="4018360"/>
          </a:xfrm>
          <a:prstGeom prst="rect">
            <a:avLst/>
          </a:prstGeom>
          <a:ln w="12700">
            <a:miter lim="400000"/>
          </a:ln>
        </p:spPr>
      </p:pic>
      <p:sp>
        <p:nvSpPr>
          <p:cNvPr id="33" name="text-4"/>
          <p:cNvSpPr txBox="1"/>
          <p:nvPr/>
        </p:nvSpPr>
        <p:spPr>
          <a:xfrm>
            <a:off x="685800" y="6572250"/>
            <a:ext cx="714375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647478"/>
                </a:solidFill>
                <a:latin typeface="Arial"/>
                <a:ea typeface="Arial"/>
                <a:cs typeface="Arial"/>
                <a:sym typeface="Arial"/>
              </a:defRPr>
            </a:lvl1pPr>
          </a:lstStyle>
          <a:p>
            <a:pPr/>
            <a:r>
              <a:t>Current homepage, 08 Sep 2026</a:t>
            </a:r>
          </a:p>
        </p:txBody>
      </p:sp>
      <p:sp>
        <p:nvSpPr>
          <p:cNvPr id="34" name="text-5"/>
          <p:cNvSpPr txBox="1"/>
          <p:nvPr/>
        </p:nvSpPr>
        <p:spPr>
          <a:xfrm>
            <a:off x="8496300" y="2381250"/>
            <a:ext cx="5905500"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367C79"/>
                </a:solidFill>
                <a:latin typeface="Arial"/>
                <a:ea typeface="Arial"/>
                <a:cs typeface="Arial"/>
                <a:sym typeface="Arial"/>
              </a:defRPr>
            </a:lvl1pPr>
          </a:lstStyle>
          <a:p>
            <a:pPr/>
            <a:r>
              <a:t>Product clarity</a:t>
            </a:r>
          </a:p>
        </p:txBody>
      </p:sp>
      <p:sp>
        <p:nvSpPr>
          <p:cNvPr id="35" name="text-6"/>
          <p:cNvSpPr txBox="1"/>
          <p:nvPr/>
        </p:nvSpPr>
        <p:spPr>
          <a:xfrm>
            <a:off x="8496300" y="2905125"/>
            <a:ext cx="5905500" cy="5758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26353B"/>
                </a:solidFill>
                <a:latin typeface="Arial"/>
                <a:ea typeface="Arial"/>
                <a:cs typeface="Arial"/>
                <a:sym typeface="Arial"/>
              </a:defRPr>
            </a:lvl1pPr>
          </a:lstStyle>
          <a:p>
            <a:pPr/>
            <a:r>
              <a:t>Explain operation, applications and assessment needs.</a:t>
            </a:r>
          </a:p>
        </p:txBody>
      </p:sp>
      <p:sp>
        <p:nvSpPr>
          <p:cNvPr id="36" name="text-7"/>
          <p:cNvSpPr txBox="1"/>
          <p:nvPr/>
        </p:nvSpPr>
        <p:spPr>
          <a:xfrm>
            <a:off x="8496300" y="3781425"/>
            <a:ext cx="5905500"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367C79"/>
                </a:solidFill>
                <a:latin typeface="Arial"/>
                <a:ea typeface="Arial"/>
                <a:cs typeface="Arial"/>
                <a:sym typeface="Arial"/>
              </a:defRPr>
            </a:lvl1pPr>
          </a:lstStyle>
          <a:p>
            <a:pPr/>
            <a:r>
              <a:t>Complete navigation</a:t>
            </a:r>
          </a:p>
        </p:txBody>
      </p:sp>
      <p:sp>
        <p:nvSpPr>
          <p:cNvPr id="37" name="text-8"/>
          <p:cNvSpPr txBox="1"/>
          <p:nvPr/>
        </p:nvSpPr>
        <p:spPr>
          <a:xfrm>
            <a:off x="8496300" y="4305300"/>
            <a:ext cx="5905500"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26353B"/>
                </a:solidFill>
                <a:latin typeface="Arial"/>
                <a:ea typeface="Arial"/>
                <a:cs typeface="Arial"/>
                <a:sym typeface="Arial"/>
              </a:defRPr>
            </a:lvl1pPr>
          </a:lstStyle>
          <a:p>
            <a:pPr/>
            <a:r>
              <a:t>Repair the broken Innovation and Services links.</a:t>
            </a:r>
          </a:p>
        </p:txBody>
      </p:sp>
      <p:sp>
        <p:nvSpPr>
          <p:cNvPr id="38" name="text-9"/>
          <p:cNvSpPr txBox="1"/>
          <p:nvPr/>
        </p:nvSpPr>
        <p:spPr>
          <a:xfrm>
            <a:off x="8496300" y="5181600"/>
            <a:ext cx="5905500"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367C79"/>
                </a:solidFill>
                <a:latin typeface="Arial"/>
                <a:ea typeface="Arial"/>
                <a:cs typeface="Arial"/>
                <a:sym typeface="Arial"/>
              </a:defRPr>
            </a:lvl1pPr>
          </a:lstStyle>
          <a:p>
            <a:pPr/>
            <a:r>
              <a:t>Inquiry flow</a:t>
            </a:r>
          </a:p>
        </p:txBody>
      </p:sp>
      <p:sp>
        <p:nvSpPr>
          <p:cNvPr id="39" name="text-10"/>
          <p:cNvSpPr txBox="1"/>
          <p:nvPr/>
        </p:nvSpPr>
        <p:spPr>
          <a:xfrm>
            <a:off x="8496300" y="5705475"/>
            <a:ext cx="5905500"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26353B"/>
                </a:solidFill>
                <a:latin typeface="Arial"/>
                <a:ea typeface="Arial"/>
                <a:cs typeface="Arial"/>
                <a:sym typeface="Arial"/>
              </a:defRPr>
            </a:lvl1pPr>
          </a:lstStyle>
          <a:p>
            <a:pPr/>
            <a:r>
              <a:t>Connect page actions to forms and CRM records.</a:t>
            </a:r>
          </a:p>
        </p:txBody>
      </p:sp>
      <p:sp>
        <p:nvSpPr>
          <p:cNvPr id="40" name="text-11"/>
          <p:cNvSpPr txBox="1"/>
          <p:nvPr/>
        </p:nvSpPr>
        <p:spPr>
          <a:xfrm>
            <a:off x="685800" y="7343775"/>
            <a:ext cx="13868400"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26353B"/>
                </a:solidFill>
                <a:latin typeface="Arial"/>
                <a:ea typeface="Arial"/>
                <a:cs typeface="Arial"/>
                <a:sym typeface="Arial"/>
              </a:defRPr>
            </a:lvl1pPr>
          </a:lstStyle>
          <a:p>
            <a:pPr/>
            <a:r>
              <a:t>Acceptance: complete pages, bilingual navigation and successful CRM capture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44"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5 main pages for first stage</a:t>
            </a:r>
          </a:p>
        </p:txBody>
      </p:sp>
      <p:sp>
        <p:nvSpPr>
          <p:cNvPr id="45"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46"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03</a:t>
            </a:r>
          </a:p>
        </p:txBody>
      </p:sp>
      <p:graphicFrame>
        <p:nvGraphicFramePr>
          <p:cNvPr id="47" name="Table 1"/>
          <p:cNvGraphicFramePr/>
          <p:nvPr/>
        </p:nvGraphicFramePr>
        <p:xfrm>
          <a:off x="685800" y="1511982"/>
          <a:ext cx="13868400" cy="13906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323105"/>
                <a:gridCol w="2435062"/>
                <a:gridCol w="2242832"/>
                <a:gridCol w="3200400"/>
                <a:gridCol w="2667000"/>
              </a:tblGrid>
              <a:tr h="695325">
                <a:tc>
                  <a:txBody>
                    <a:bodyPr/>
                    <a:lstStyle/>
                    <a:p>
                      <a:pPr algn="l">
                        <a:defRPr sz="1800"/>
                      </a:pPr>
                      <a:r>
                        <a:rPr b="1">
                          <a:solidFill>
                            <a:srgbClr val="FFFFFF"/>
                          </a:solidFill>
                          <a:latin typeface="Arial"/>
                          <a:ea typeface="Arial"/>
                          <a:cs typeface="Arial"/>
                          <a:sym typeface="Arial"/>
                        </a:rPr>
                        <a:t>Home</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Technology</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Use Cases</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About Us</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Contact Us</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r>
              <a:tr h="695325">
                <a:tc>
                  <a:txBody>
                    <a:bodyPr/>
                    <a:lstStyle/>
                    <a:p>
                      <a:pPr algn="l">
                        <a:defRPr sz="1800"/>
                      </a:pPr>
                      <a:r>
                        <a:rPr>
                          <a:solidFill>
                            <a:srgbClr val="26353B"/>
                          </a:solidFill>
                          <a:latin typeface="Arial"/>
                          <a:ea typeface="Arial"/>
                          <a:cs typeface="Arial"/>
                          <a:sym typeface="Arial"/>
                        </a:rPr>
                        <a:t>Brand, carbon, value, use case summary</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How it works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Applications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Company and FACES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Inquiries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bl>
          </a:graphicData>
        </a:graphic>
      </p:graphicFrame>
      <p:sp>
        <p:nvSpPr>
          <p:cNvPr id="48" name="text-4"/>
          <p:cNvSpPr txBox="1"/>
          <p:nvPr/>
        </p:nvSpPr>
        <p:spPr>
          <a:xfrm>
            <a:off x="685800" y="4448175"/>
            <a:ext cx="409575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Technology partners</a:t>
            </a:r>
          </a:p>
        </p:txBody>
      </p:sp>
      <p:sp>
        <p:nvSpPr>
          <p:cNvPr id="49" name="text-5"/>
          <p:cNvSpPr txBox="1"/>
          <p:nvPr/>
        </p:nvSpPr>
        <p:spPr>
          <a:xfrm>
            <a:off x="685800" y="5029200"/>
            <a:ext cx="13868400"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26353B"/>
                </a:solidFill>
                <a:latin typeface="Arial"/>
                <a:ea typeface="Arial"/>
                <a:cs typeface="Arial"/>
                <a:sym typeface="Arial"/>
              </a:defRPr>
            </a:lvl1pPr>
          </a:lstStyle>
          <a:p>
            <a:pPr/>
            <a:r>
              <a:t>Home  →  Technology  →  Use Cases  →  Contact Us</a:t>
            </a:r>
          </a:p>
        </p:txBody>
      </p:sp>
      <p:sp>
        <p:nvSpPr>
          <p:cNvPr id="50" name="text-6"/>
          <p:cNvSpPr txBox="1"/>
          <p:nvPr/>
        </p:nvSpPr>
        <p:spPr>
          <a:xfrm>
            <a:off x="685800" y="5895975"/>
            <a:ext cx="552450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Talent and training visitors</a:t>
            </a:r>
          </a:p>
        </p:txBody>
      </p:sp>
      <p:sp>
        <p:nvSpPr>
          <p:cNvPr id="51" name="text-7"/>
          <p:cNvSpPr txBox="1"/>
          <p:nvPr/>
        </p:nvSpPr>
        <p:spPr>
          <a:xfrm>
            <a:off x="685800" y="6477000"/>
            <a:ext cx="13868400"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26353B"/>
                </a:solidFill>
                <a:latin typeface="Arial"/>
                <a:ea typeface="Arial"/>
                <a:cs typeface="Arial"/>
                <a:sym typeface="Arial"/>
              </a:defRPr>
            </a:lvl1pPr>
          </a:lstStyle>
          <a:p>
            <a:pPr/>
            <a:r>
              <a:t>About Us  →  FACES section  →  Participation or partnership inquiry</a:t>
            </a:r>
          </a:p>
        </p:txBody>
      </p:sp>
      <p:sp>
        <p:nvSpPr>
          <p:cNvPr id="52" name="text-8"/>
          <p:cNvSpPr txBox="1"/>
          <p:nvPr/>
        </p:nvSpPr>
        <p:spPr>
          <a:xfrm>
            <a:off x="685800" y="7429500"/>
            <a:ext cx="138684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647478"/>
                </a:solidFill>
                <a:latin typeface="Arial"/>
                <a:ea typeface="Arial"/>
                <a:cs typeface="Arial"/>
                <a:sym typeface="Arial"/>
              </a:defRPr>
            </a:lvl1pPr>
          </a:lstStyle>
          <a:p>
            <a:pPr/>
            <a:r>
              <a:t>Page actions preselect an inquiry type so the team can identify visitor intent.</a:t>
            </a:r>
          </a:p>
        </p:txBody>
      </p:sp>
      <p:sp>
        <p:nvSpPr>
          <p:cNvPr id="53" name="Visitor journeys"/>
          <p:cNvSpPr txBox="1"/>
          <p:nvPr/>
        </p:nvSpPr>
        <p:spPr>
          <a:xfrm>
            <a:off x="643991" y="3548062"/>
            <a:ext cx="3459784" cy="51844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b="1" sz="3600">
                <a:solidFill>
                  <a:srgbClr val="26353B"/>
                </a:solidFill>
                <a:latin typeface="Arial"/>
                <a:ea typeface="Arial"/>
                <a:cs typeface="Arial"/>
                <a:sym typeface="Arial"/>
              </a:defRPr>
            </a:lvl1pPr>
          </a:lstStyle>
          <a:p>
            <a:pPr/>
            <a:r>
              <a:t>Visitor journeys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57"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Home: make ThermoVerse’s value clear</a:t>
            </a:r>
          </a:p>
        </p:txBody>
      </p:sp>
      <p:sp>
        <p:nvSpPr>
          <p:cNvPr id="58" name="text-1"/>
          <p:cNvSpPr txBox="1"/>
          <p:nvPr/>
        </p:nvSpPr>
        <p:spPr>
          <a:xfrm>
            <a:off x="685800" y="1270266"/>
            <a:ext cx="138684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Purpose: explain what the company does, who it serves and what to do next</a:t>
            </a:r>
          </a:p>
        </p:txBody>
      </p:sp>
      <p:sp>
        <p:nvSpPr>
          <p:cNvPr id="59"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60"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04</a:t>
            </a:r>
          </a:p>
        </p:txBody>
      </p:sp>
      <p:sp>
        <p:nvSpPr>
          <p:cNvPr id="61" name="text-4"/>
          <p:cNvSpPr txBox="1"/>
          <p:nvPr/>
        </p:nvSpPr>
        <p:spPr>
          <a:xfrm>
            <a:off x="685800" y="2505075"/>
            <a:ext cx="5334000"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367C79"/>
                </a:solidFill>
                <a:latin typeface="Arial"/>
                <a:ea typeface="Arial"/>
                <a:cs typeface="Arial"/>
                <a:sym typeface="Arial"/>
              </a:defRPr>
            </a:lvl1pPr>
          </a:lstStyle>
          <a:p>
            <a:pPr/>
            <a:r>
              <a:t>PROPOSED MESSAGE</a:t>
            </a:r>
          </a:p>
        </p:txBody>
      </p:sp>
      <p:sp>
        <p:nvSpPr>
          <p:cNvPr id="62" name="text-5"/>
          <p:cNvSpPr txBox="1"/>
          <p:nvPr/>
        </p:nvSpPr>
        <p:spPr>
          <a:xfrm>
            <a:off x="685800" y="3086100"/>
            <a:ext cx="6000750" cy="18159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3100">
                <a:solidFill>
                  <a:srgbClr val="26353B"/>
                </a:solidFill>
                <a:latin typeface="Arial"/>
                <a:ea typeface="Arial"/>
                <a:cs typeface="Arial"/>
                <a:sym typeface="Arial"/>
              </a:defRPr>
            </a:pPr>
            <a:r>
              <a:t>Reduce building energy use</a:t>
            </a:r>
          </a:p>
          <a:p>
            <a:pPr>
              <a:defRPr b="1" sz="3100">
                <a:solidFill>
                  <a:srgbClr val="26353B"/>
                </a:solidFill>
                <a:latin typeface="Arial"/>
                <a:ea typeface="Arial"/>
                <a:cs typeface="Arial"/>
                <a:sym typeface="Arial"/>
              </a:defRPr>
            </a:pPr>
            <a:r>
              <a:t>and emissions, supporting</a:t>
            </a:r>
          </a:p>
          <a:p>
            <a:pPr>
              <a:defRPr b="1" sz="3100">
                <a:solidFill>
                  <a:srgbClr val="26353B"/>
                </a:solidFill>
                <a:latin typeface="Arial"/>
                <a:ea typeface="Arial"/>
                <a:cs typeface="Arial"/>
                <a:sym typeface="Arial"/>
              </a:defRPr>
            </a:pPr>
            <a:r>
              <a:t>carbon-credit eligibility</a:t>
            </a:r>
          </a:p>
          <a:p>
            <a:pPr>
              <a:defRPr b="1" sz="3100">
                <a:solidFill>
                  <a:srgbClr val="26353B"/>
                </a:solidFill>
                <a:latin typeface="Arial"/>
                <a:ea typeface="Arial"/>
                <a:cs typeface="Arial"/>
                <a:sym typeface="Arial"/>
              </a:defRPr>
            </a:pPr>
            <a:r>
              <a:t>and carbon management</a:t>
            </a:r>
          </a:p>
        </p:txBody>
      </p:sp>
      <p:sp>
        <p:nvSpPr>
          <p:cNvPr id="63" name="text-6"/>
          <p:cNvSpPr txBox="1"/>
          <p:nvPr/>
        </p:nvSpPr>
        <p:spPr>
          <a:xfrm>
            <a:off x="7287739" y="3075892"/>
            <a:ext cx="4953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01</a:t>
            </a:r>
          </a:p>
        </p:txBody>
      </p:sp>
      <p:sp>
        <p:nvSpPr>
          <p:cNvPr id="64" name="text-7"/>
          <p:cNvSpPr txBox="1"/>
          <p:nvPr/>
        </p:nvSpPr>
        <p:spPr>
          <a:xfrm>
            <a:off x="7935439" y="3075892"/>
            <a:ext cx="6572251"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6353B"/>
                </a:solidFill>
                <a:latin typeface="Arial"/>
                <a:ea typeface="Arial"/>
                <a:cs typeface="Arial"/>
                <a:sym typeface="Arial"/>
              </a:defRPr>
            </a:lvl1pPr>
          </a:lstStyle>
          <a:p>
            <a:pPr/>
            <a:r>
              <a:t>Hero: thermal management as a path to lower emissions</a:t>
            </a:r>
          </a:p>
        </p:txBody>
      </p:sp>
      <p:sp>
        <p:nvSpPr>
          <p:cNvPr id="65" name="text-8"/>
          <p:cNvSpPr txBox="1"/>
          <p:nvPr/>
        </p:nvSpPr>
        <p:spPr>
          <a:xfrm>
            <a:off x="7287739" y="3752167"/>
            <a:ext cx="4953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02</a:t>
            </a:r>
          </a:p>
        </p:txBody>
      </p:sp>
      <p:sp>
        <p:nvSpPr>
          <p:cNvPr id="66" name="text-9"/>
          <p:cNvSpPr txBox="1"/>
          <p:nvPr/>
        </p:nvSpPr>
        <p:spPr>
          <a:xfrm>
            <a:off x="7935439" y="3752167"/>
            <a:ext cx="6572251"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6353B"/>
                </a:solidFill>
                <a:latin typeface="Arial"/>
                <a:ea typeface="Arial"/>
                <a:cs typeface="Arial"/>
                <a:sym typeface="Arial"/>
              </a:defRPr>
            </a:lvl1pPr>
          </a:lstStyle>
          <a:p>
            <a:pPr/>
            <a:r>
              <a:t>Peak demand, comfort and energy challenges</a:t>
            </a:r>
          </a:p>
        </p:txBody>
      </p:sp>
      <p:sp>
        <p:nvSpPr>
          <p:cNvPr id="67" name="text-10"/>
          <p:cNvSpPr txBox="1"/>
          <p:nvPr/>
        </p:nvSpPr>
        <p:spPr>
          <a:xfrm>
            <a:off x="7287739" y="4428442"/>
            <a:ext cx="4953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03</a:t>
            </a:r>
          </a:p>
        </p:txBody>
      </p:sp>
      <p:sp>
        <p:nvSpPr>
          <p:cNvPr id="68" name="text-11"/>
          <p:cNvSpPr txBox="1"/>
          <p:nvPr/>
        </p:nvSpPr>
        <p:spPr>
          <a:xfrm>
            <a:off x="7935439" y="4428442"/>
            <a:ext cx="6572251"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6353B"/>
                </a:solidFill>
                <a:latin typeface="Arial"/>
                <a:ea typeface="Arial"/>
                <a:cs typeface="Arial"/>
                <a:sym typeface="Arial"/>
              </a:defRPr>
            </a:lvl1pPr>
          </a:lstStyle>
          <a:p>
            <a:pPr/>
            <a:r>
              <a:t>SIMs sensing, storage and control summary</a:t>
            </a:r>
          </a:p>
        </p:txBody>
      </p:sp>
      <p:sp>
        <p:nvSpPr>
          <p:cNvPr id="69" name="text-12"/>
          <p:cNvSpPr txBox="1"/>
          <p:nvPr/>
        </p:nvSpPr>
        <p:spPr>
          <a:xfrm>
            <a:off x="7287739" y="5104717"/>
            <a:ext cx="4953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04</a:t>
            </a:r>
          </a:p>
        </p:txBody>
      </p:sp>
      <p:sp>
        <p:nvSpPr>
          <p:cNvPr id="70" name="text-13"/>
          <p:cNvSpPr txBox="1"/>
          <p:nvPr/>
        </p:nvSpPr>
        <p:spPr>
          <a:xfrm>
            <a:off x="7935439" y="5104717"/>
            <a:ext cx="6572251"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6353B"/>
                </a:solidFill>
                <a:latin typeface="Arial"/>
                <a:ea typeface="Arial"/>
                <a:cs typeface="Arial"/>
                <a:sym typeface="Arial"/>
              </a:defRPr>
            </a:lvl1pPr>
          </a:lstStyle>
          <a:p>
            <a:pPr/>
            <a:r>
              <a:t>Commercial, industrial and multifamily applications</a:t>
            </a:r>
          </a:p>
        </p:txBody>
      </p:sp>
      <p:sp>
        <p:nvSpPr>
          <p:cNvPr id="71" name="text-14"/>
          <p:cNvSpPr txBox="1"/>
          <p:nvPr/>
        </p:nvSpPr>
        <p:spPr>
          <a:xfrm>
            <a:off x="7287739" y="5780992"/>
            <a:ext cx="4953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05</a:t>
            </a:r>
          </a:p>
        </p:txBody>
      </p:sp>
      <p:sp>
        <p:nvSpPr>
          <p:cNvPr id="72" name="text-15"/>
          <p:cNvSpPr txBox="1"/>
          <p:nvPr/>
        </p:nvSpPr>
        <p:spPr>
          <a:xfrm>
            <a:off x="7935439" y="5780992"/>
            <a:ext cx="6572251"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6353B"/>
                </a:solidFill>
                <a:latin typeface="Arial"/>
                <a:ea typeface="Arial"/>
                <a:cs typeface="Arial"/>
                <a:sym typeface="Arial"/>
              </a:defRPr>
            </a:lvl1pPr>
          </a:lstStyle>
          <a:p>
            <a:pPr/>
            <a:r>
              <a:t>How measured reductions can support credit eligibility and reporting</a:t>
            </a:r>
          </a:p>
        </p:txBody>
      </p:sp>
      <p:sp>
        <p:nvSpPr>
          <p:cNvPr id="73" name="text-16"/>
          <p:cNvSpPr txBox="1"/>
          <p:nvPr/>
        </p:nvSpPr>
        <p:spPr>
          <a:xfrm>
            <a:off x="7287739" y="6457267"/>
            <a:ext cx="49530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06</a:t>
            </a:r>
          </a:p>
        </p:txBody>
      </p:sp>
      <p:sp>
        <p:nvSpPr>
          <p:cNvPr id="74" name="text-17"/>
          <p:cNvSpPr txBox="1"/>
          <p:nvPr/>
        </p:nvSpPr>
        <p:spPr>
          <a:xfrm>
            <a:off x="7935439" y="6457267"/>
            <a:ext cx="6572251"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6353B"/>
                </a:solidFill>
                <a:latin typeface="Arial"/>
                <a:ea typeface="Arial"/>
                <a:cs typeface="Arial"/>
                <a:sym typeface="Arial"/>
              </a:defRPr>
            </a:lvl1pPr>
          </a:lstStyle>
          <a:p>
            <a:pPr/>
            <a:r>
              <a:t>Partners and awards</a:t>
            </a:r>
          </a:p>
        </p:txBody>
      </p:sp>
      <p:sp>
        <p:nvSpPr>
          <p:cNvPr id="75" name="text-19"/>
          <p:cNvSpPr txBox="1"/>
          <p:nvPr/>
        </p:nvSpPr>
        <p:spPr>
          <a:xfrm>
            <a:off x="685800" y="6877050"/>
            <a:ext cx="4031573"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26353B"/>
                </a:solidFill>
                <a:latin typeface="Arial"/>
                <a:ea typeface="Arial"/>
                <a:cs typeface="Arial"/>
                <a:sym typeface="Arial"/>
              </a:defRPr>
            </a:lvl1pPr>
          </a:lstStyle>
          <a:p>
            <a:pPr/>
            <a:r>
              <a:t>Discuss a Project</a:t>
            </a:r>
          </a:p>
        </p:txBody>
      </p:sp>
      <p:sp>
        <p:nvSpPr>
          <p:cNvPr id="76" name="text-20"/>
          <p:cNvSpPr txBox="1"/>
          <p:nvPr/>
        </p:nvSpPr>
        <p:spPr>
          <a:xfrm>
            <a:off x="685800" y="7324725"/>
            <a:ext cx="4031573"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647478"/>
                </a:solidFill>
                <a:latin typeface="Arial"/>
                <a:ea typeface="Arial"/>
                <a:cs typeface="Arial"/>
                <a:sym typeface="Arial"/>
              </a:defRPr>
            </a:lvl1pPr>
          </a:lstStyle>
          <a:p>
            <a:pPr/>
            <a:r>
              <a:t>Secondary action: Explore Our Technology</a:t>
            </a:r>
          </a:p>
        </p:txBody>
      </p:sp>
      <p:sp>
        <p:nvSpPr>
          <p:cNvPr id="77" name="text-4"/>
          <p:cNvSpPr txBox="1"/>
          <p:nvPr/>
        </p:nvSpPr>
        <p:spPr>
          <a:xfrm>
            <a:off x="7308791" y="2505075"/>
            <a:ext cx="5334001"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367C79"/>
                </a:solidFill>
                <a:latin typeface="Arial"/>
                <a:ea typeface="Arial"/>
                <a:cs typeface="Arial"/>
                <a:sym typeface="Arial"/>
              </a:defRPr>
            </a:lvl1pPr>
          </a:lstStyle>
          <a:p>
            <a:pPr/>
            <a:r>
              <a:t>Sections</a:t>
            </a:r>
          </a:p>
        </p:txBody>
      </p:sp>
      <p:sp>
        <p:nvSpPr>
          <p:cNvPr id="78" name="text-17"/>
          <p:cNvSpPr txBox="1"/>
          <p:nvPr/>
        </p:nvSpPr>
        <p:spPr>
          <a:xfrm>
            <a:off x="685800" y="6513171"/>
            <a:ext cx="138684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367C79"/>
                </a:solidFill>
                <a:latin typeface="Arial"/>
                <a:ea typeface="Arial"/>
                <a:cs typeface="Arial"/>
                <a:sym typeface="Arial"/>
              </a:defRPr>
            </a:lvl1pPr>
          </a:lstStyle>
          <a:p>
            <a:pPr/>
            <a:r>
              <a:t>PRIMARY CTA</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82"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Technology: explain operation and adoption</a:t>
            </a:r>
          </a:p>
        </p:txBody>
      </p:sp>
      <p:sp>
        <p:nvSpPr>
          <p:cNvPr id="83" name="text-1"/>
          <p:cNvSpPr txBox="1"/>
          <p:nvPr/>
        </p:nvSpPr>
        <p:spPr>
          <a:xfrm>
            <a:off x="685800" y="1255653"/>
            <a:ext cx="13868401"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Purpose: explain how SIMs work and what a building assessment requires</a:t>
            </a:r>
          </a:p>
        </p:txBody>
      </p:sp>
      <p:sp>
        <p:nvSpPr>
          <p:cNvPr id="84"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85"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05</a:t>
            </a:r>
          </a:p>
        </p:txBody>
      </p:sp>
      <p:pic>
        <p:nvPicPr>
          <p:cNvPr id="86" name="image3.png" descr="image3.png"/>
          <p:cNvPicPr>
            <a:picLocks noChangeAspect="1"/>
          </p:cNvPicPr>
          <p:nvPr/>
        </p:nvPicPr>
        <p:blipFill>
          <a:blip r:embed="rId3">
            <a:extLst/>
          </a:blip>
          <a:srcRect l="0" t="3424" r="0" b="3424"/>
          <a:stretch>
            <a:fillRect/>
          </a:stretch>
        </p:blipFill>
        <p:spPr>
          <a:xfrm>
            <a:off x="685800" y="2381249"/>
            <a:ext cx="5286375" cy="3476627"/>
          </a:xfrm>
          <a:prstGeom prst="rect">
            <a:avLst/>
          </a:prstGeom>
          <a:ln w="12700">
            <a:miter lim="400000"/>
          </a:ln>
        </p:spPr>
      </p:pic>
      <p:sp>
        <p:nvSpPr>
          <p:cNvPr id="87" name="text-4"/>
          <p:cNvSpPr txBox="1"/>
          <p:nvPr/>
        </p:nvSpPr>
        <p:spPr>
          <a:xfrm>
            <a:off x="685800" y="6000750"/>
            <a:ext cx="528637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647478"/>
                </a:solidFill>
                <a:latin typeface="Arial"/>
                <a:ea typeface="Arial"/>
                <a:cs typeface="Arial"/>
                <a:sym typeface="Arial"/>
              </a:defRPr>
            </a:lvl1pPr>
          </a:lstStyle>
          <a:p>
            <a:pPr/>
            <a:r>
              <a:t>Existing installation image from the website</a:t>
            </a:r>
          </a:p>
        </p:txBody>
      </p:sp>
      <p:sp>
        <p:nvSpPr>
          <p:cNvPr id="88" name="text-5"/>
          <p:cNvSpPr txBox="1"/>
          <p:nvPr/>
        </p:nvSpPr>
        <p:spPr>
          <a:xfrm>
            <a:off x="6743700" y="3026123"/>
            <a:ext cx="495300"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01</a:t>
            </a:r>
          </a:p>
        </p:txBody>
      </p:sp>
      <p:sp>
        <p:nvSpPr>
          <p:cNvPr id="89" name="text-6"/>
          <p:cNvSpPr txBox="1"/>
          <p:nvPr/>
        </p:nvSpPr>
        <p:spPr>
          <a:xfrm>
            <a:off x="7391400" y="3026123"/>
            <a:ext cx="71628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SIMs technology overview</a:t>
            </a:r>
          </a:p>
        </p:txBody>
      </p:sp>
      <p:sp>
        <p:nvSpPr>
          <p:cNvPr id="90" name="text-7"/>
          <p:cNvSpPr txBox="1"/>
          <p:nvPr/>
        </p:nvSpPr>
        <p:spPr>
          <a:xfrm>
            <a:off x="6743700" y="3702398"/>
            <a:ext cx="495300"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02</a:t>
            </a:r>
          </a:p>
        </p:txBody>
      </p:sp>
      <p:sp>
        <p:nvSpPr>
          <p:cNvPr id="91" name="text-8"/>
          <p:cNvSpPr txBox="1"/>
          <p:nvPr/>
        </p:nvSpPr>
        <p:spPr>
          <a:xfrm>
            <a:off x="7391400" y="3702398"/>
            <a:ext cx="71628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Phase-change materials and thermal storage</a:t>
            </a:r>
          </a:p>
        </p:txBody>
      </p:sp>
      <p:sp>
        <p:nvSpPr>
          <p:cNvPr id="92" name="text-9"/>
          <p:cNvSpPr txBox="1"/>
          <p:nvPr/>
        </p:nvSpPr>
        <p:spPr>
          <a:xfrm>
            <a:off x="6743700" y="4378673"/>
            <a:ext cx="495300"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03</a:t>
            </a:r>
          </a:p>
        </p:txBody>
      </p:sp>
      <p:sp>
        <p:nvSpPr>
          <p:cNvPr id="93" name="text-10"/>
          <p:cNvSpPr txBox="1"/>
          <p:nvPr/>
        </p:nvSpPr>
        <p:spPr>
          <a:xfrm>
            <a:off x="7391400" y="4378673"/>
            <a:ext cx="71628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The sensing, storage and control process</a:t>
            </a:r>
          </a:p>
        </p:txBody>
      </p:sp>
      <p:sp>
        <p:nvSpPr>
          <p:cNvPr id="94" name="text-11"/>
          <p:cNvSpPr txBox="1"/>
          <p:nvPr/>
        </p:nvSpPr>
        <p:spPr>
          <a:xfrm>
            <a:off x="6743700" y="5054948"/>
            <a:ext cx="495300"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04</a:t>
            </a:r>
          </a:p>
        </p:txBody>
      </p:sp>
      <p:sp>
        <p:nvSpPr>
          <p:cNvPr id="95" name="text-12"/>
          <p:cNvSpPr txBox="1"/>
          <p:nvPr/>
        </p:nvSpPr>
        <p:spPr>
          <a:xfrm>
            <a:off x="7391400" y="5054948"/>
            <a:ext cx="71628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Integration within ceilings and walls</a:t>
            </a:r>
          </a:p>
        </p:txBody>
      </p:sp>
      <p:sp>
        <p:nvSpPr>
          <p:cNvPr id="96" name="text-13"/>
          <p:cNvSpPr txBox="1"/>
          <p:nvPr/>
        </p:nvSpPr>
        <p:spPr>
          <a:xfrm>
            <a:off x="6743700" y="5731223"/>
            <a:ext cx="495300"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05</a:t>
            </a:r>
          </a:p>
        </p:txBody>
      </p:sp>
      <p:sp>
        <p:nvSpPr>
          <p:cNvPr id="97" name="text-14"/>
          <p:cNvSpPr txBox="1"/>
          <p:nvPr/>
        </p:nvSpPr>
        <p:spPr>
          <a:xfrm>
            <a:off x="7391400" y="5731223"/>
            <a:ext cx="71628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Heat-flow control, peak management and demand response</a:t>
            </a:r>
          </a:p>
        </p:txBody>
      </p:sp>
      <p:sp>
        <p:nvSpPr>
          <p:cNvPr id="98" name="text-15"/>
          <p:cNvSpPr txBox="1"/>
          <p:nvPr/>
        </p:nvSpPr>
        <p:spPr>
          <a:xfrm>
            <a:off x="6743700" y="6407498"/>
            <a:ext cx="495300"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06</a:t>
            </a:r>
          </a:p>
        </p:txBody>
      </p:sp>
      <p:sp>
        <p:nvSpPr>
          <p:cNvPr id="99" name="text-16"/>
          <p:cNvSpPr txBox="1"/>
          <p:nvPr/>
        </p:nvSpPr>
        <p:spPr>
          <a:xfrm>
            <a:off x="7391400" y="6407498"/>
            <a:ext cx="71628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FAQ: suitability, integration needs and assessment data</a:t>
            </a:r>
          </a:p>
        </p:txBody>
      </p:sp>
      <p:sp>
        <p:nvSpPr>
          <p:cNvPr id="100" name="text-17"/>
          <p:cNvSpPr txBox="1"/>
          <p:nvPr/>
        </p:nvSpPr>
        <p:spPr>
          <a:xfrm>
            <a:off x="685800" y="6696075"/>
            <a:ext cx="138684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367C79"/>
                </a:solidFill>
                <a:latin typeface="Arial"/>
                <a:ea typeface="Arial"/>
                <a:cs typeface="Arial"/>
                <a:sym typeface="Arial"/>
              </a:defRPr>
            </a:lvl1pPr>
          </a:lstStyle>
          <a:p>
            <a:pPr/>
            <a:r>
              <a:t>PRIMARY CTA</a:t>
            </a:r>
          </a:p>
        </p:txBody>
      </p:sp>
      <p:sp>
        <p:nvSpPr>
          <p:cNvPr id="101" name="text-18"/>
          <p:cNvSpPr txBox="1"/>
          <p:nvPr/>
        </p:nvSpPr>
        <p:spPr>
          <a:xfrm>
            <a:off x="685800" y="7029450"/>
            <a:ext cx="138684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26353B"/>
                </a:solidFill>
                <a:latin typeface="Arial"/>
                <a:ea typeface="Arial"/>
                <a:cs typeface="Arial"/>
                <a:sym typeface="Arial"/>
              </a:defRPr>
            </a:lvl1pPr>
          </a:lstStyle>
          <a:p>
            <a:pPr/>
            <a:r>
              <a:t>Discuss Your Requirements</a:t>
            </a:r>
          </a:p>
        </p:txBody>
      </p:sp>
      <p:sp>
        <p:nvSpPr>
          <p:cNvPr id="102" name="text-19"/>
          <p:cNvSpPr txBox="1"/>
          <p:nvPr/>
        </p:nvSpPr>
        <p:spPr>
          <a:xfrm>
            <a:off x="685800" y="7477125"/>
            <a:ext cx="1386840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647478"/>
                </a:solidFill>
                <a:latin typeface="Arial"/>
                <a:ea typeface="Arial"/>
                <a:cs typeface="Arial"/>
                <a:sym typeface="Arial"/>
              </a:defRPr>
            </a:lvl1pPr>
          </a:lstStyle>
          <a:p>
            <a:pPr/>
            <a:r>
              <a:t>Technology maturity, patents, compatibility and performance require client-approved evidence.</a:t>
            </a:r>
          </a:p>
        </p:txBody>
      </p:sp>
      <p:sp>
        <p:nvSpPr>
          <p:cNvPr id="103" name="text-4"/>
          <p:cNvSpPr txBox="1"/>
          <p:nvPr/>
        </p:nvSpPr>
        <p:spPr>
          <a:xfrm>
            <a:off x="6719656" y="2391888"/>
            <a:ext cx="5334001"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367C79"/>
                </a:solidFill>
                <a:latin typeface="Arial"/>
                <a:ea typeface="Arial"/>
                <a:cs typeface="Arial"/>
                <a:sym typeface="Arial"/>
              </a:defRPr>
            </a:lvl1pPr>
          </a:lstStyle>
          <a:p>
            <a:pPr/>
            <a:r>
              <a:t>Sections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107"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Use Cases: recruit POC site partners</a:t>
            </a:r>
          </a:p>
        </p:txBody>
      </p:sp>
      <p:sp>
        <p:nvSpPr>
          <p:cNvPr id="108" name="text-1"/>
          <p:cNvSpPr txBox="1"/>
          <p:nvPr/>
        </p:nvSpPr>
        <p:spPr>
          <a:xfrm>
            <a:off x="685800" y="1139213"/>
            <a:ext cx="138684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Purpose: identify real sites for validating technology, carbon reduction and deployment needs</a:t>
            </a:r>
          </a:p>
        </p:txBody>
      </p:sp>
      <p:sp>
        <p:nvSpPr>
          <p:cNvPr id="109"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110"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07</a:t>
            </a:r>
          </a:p>
        </p:txBody>
      </p:sp>
      <p:graphicFrame>
        <p:nvGraphicFramePr>
          <p:cNvPr id="111" name="Table 1"/>
          <p:cNvGraphicFramePr/>
          <p:nvPr/>
        </p:nvGraphicFramePr>
        <p:xfrm>
          <a:off x="685800" y="2524125"/>
          <a:ext cx="13868400" cy="35242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86000"/>
                <a:gridCol w="3333750"/>
                <a:gridCol w="4191000"/>
                <a:gridCol w="4057650"/>
              </a:tblGrid>
              <a:tr h="881063">
                <a:tc>
                  <a:txBody>
                    <a:bodyPr/>
                    <a:lstStyle/>
                    <a:p>
                      <a:pPr algn="l">
                        <a:defRPr sz="1800"/>
                      </a:pPr>
                      <a:r>
                        <a:rPr b="1">
                          <a:solidFill>
                            <a:srgbClr val="FFFFFF"/>
                          </a:solidFill>
                          <a:latin typeface="Arial"/>
                          <a:ea typeface="Arial"/>
                          <a:cs typeface="Arial"/>
                          <a:sym typeface="Arial"/>
                        </a:rPr>
                        <a:t>Application</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Building challenge</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Proposed application / value</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Assessment inputs</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r>
              <a:tr h="881063">
                <a:tc>
                  <a:txBody>
                    <a:bodyPr/>
                    <a:lstStyle/>
                    <a:p>
                      <a:pPr algn="l">
                        <a:defRPr sz="1800"/>
                      </a:pPr>
                      <a:r>
                        <a:rPr>
                          <a:solidFill>
                            <a:srgbClr val="26353B"/>
                          </a:solidFill>
                          <a:latin typeface="Arial"/>
                          <a:ea typeface="Arial"/>
                          <a:cs typeface="Arial"/>
                          <a:sym typeface="Arial"/>
                        </a:rPr>
                        <a:t>Commercial</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HVAC loads and operating hours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Assess thermal control and peak demand management</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Operating hours, electricity and HVAC data</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r h="881063">
                <a:tc>
                  <a:txBody>
                    <a:bodyPr/>
                    <a:lstStyle/>
                    <a:p>
                      <a:pPr algn="l">
                        <a:defRPr sz="1800"/>
                      </a:pPr>
                      <a:r>
                        <a:rPr>
                          <a:solidFill>
                            <a:srgbClr val="26353B"/>
                          </a:solidFill>
                          <a:latin typeface="Arial"/>
                          <a:ea typeface="Arial"/>
                          <a:cs typeface="Arial"/>
                          <a:sym typeface="Arial"/>
                        </a:rPr>
                        <a:t>Industrial</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Site-specific thermal needs</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Assess thermal management against actual site conditions</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Thermal loads, equipment and site conditions</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r>
              <a:tr h="881063">
                <a:tc>
                  <a:txBody>
                    <a:bodyPr/>
                    <a:lstStyle/>
                    <a:p>
                      <a:pPr algn="l">
                        <a:defRPr sz="1800"/>
                      </a:pPr>
                      <a:r>
                        <a:rPr>
                          <a:solidFill>
                            <a:srgbClr val="26353B"/>
                          </a:solidFill>
                          <a:latin typeface="Arial"/>
                          <a:ea typeface="Arial"/>
                          <a:cs typeface="Arial"/>
                          <a:sym typeface="Arial"/>
                        </a:rPr>
                        <a:t>Multifamily</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Comfort and building energy use</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Assess temperature stability and load flexibility</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Building layout, HVAC and occupancy needs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bl>
          </a:graphicData>
        </a:graphic>
      </p:graphicFrame>
      <p:sp>
        <p:nvSpPr>
          <p:cNvPr id="112" name="text-4"/>
          <p:cNvSpPr txBox="1"/>
          <p:nvPr/>
        </p:nvSpPr>
        <p:spPr>
          <a:xfrm>
            <a:off x="685800" y="2147115"/>
            <a:ext cx="13868401"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367C79"/>
                </a:solidFill>
                <a:latin typeface="Arial"/>
                <a:ea typeface="Arial"/>
                <a:cs typeface="Arial"/>
                <a:sym typeface="Arial"/>
              </a:defRPr>
            </a:lvl1pPr>
          </a:lstStyle>
          <a:p>
            <a:pPr/>
            <a:r>
              <a:t>Partners provide a site, baseline data and testing support, then jointly define POC success metrics.</a:t>
            </a:r>
          </a:p>
        </p:txBody>
      </p:sp>
      <p:sp>
        <p:nvSpPr>
          <p:cNvPr id="113" name="text-6"/>
          <p:cNvSpPr txBox="1"/>
          <p:nvPr/>
        </p:nvSpPr>
        <p:spPr>
          <a:xfrm>
            <a:off x="685800" y="6714107"/>
            <a:ext cx="13868401" cy="2960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26353B"/>
                </a:solidFill>
                <a:latin typeface="Arial"/>
                <a:ea typeface="Arial"/>
                <a:cs typeface="Arial"/>
                <a:sym typeface="Arial"/>
              </a:defRPr>
            </a:lvl1pPr>
          </a:lstStyle>
          <a:p>
            <a:pPr/>
            <a:r>
              <a:t>Apply to Become a POC Site Partner</a:t>
            </a:r>
          </a:p>
        </p:txBody>
      </p:sp>
      <p:sp>
        <p:nvSpPr>
          <p:cNvPr id="114" name="text-7"/>
          <p:cNvSpPr txBox="1"/>
          <p:nvPr/>
        </p:nvSpPr>
        <p:spPr>
          <a:xfrm>
            <a:off x="685800" y="7161782"/>
            <a:ext cx="13868401"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647478"/>
                </a:solidFill>
                <a:latin typeface="Arial"/>
                <a:ea typeface="Arial"/>
                <a:cs typeface="Arial"/>
                <a:sym typeface="Arial"/>
              </a:defRPr>
            </a:lvl1pPr>
          </a:lstStyle>
          <a:p>
            <a:pPr/>
            <a:r>
              <a:t>POC results, emissions reductions and credit eligibility depend on measurement, verification and applicable programs.</a:t>
            </a:r>
          </a:p>
        </p:txBody>
      </p:sp>
      <p:sp>
        <p:nvSpPr>
          <p:cNvPr id="115" name="text-17"/>
          <p:cNvSpPr txBox="1"/>
          <p:nvPr/>
        </p:nvSpPr>
        <p:spPr>
          <a:xfrm>
            <a:off x="685800" y="6420212"/>
            <a:ext cx="13868401"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367C79"/>
                </a:solidFill>
                <a:latin typeface="Arial"/>
                <a:ea typeface="Arial"/>
                <a:cs typeface="Arial"/>
                <a:sym typeface="Arial"/>
              </a:defRPr>
            </a:lvl1pPr>
          </a:lstStyle>
          <a:p>
            <a:pPr/>
            <a:r>
              <a:t>PRIMARY CTA</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119"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About Us: build trust with background and evidence</a:t>
            </a:r>
          </a:p>
        </p:txBody>
      </p:sp>
      <p:sp>
        <p:nvSpPr>
          <p:cNvPr id="120" name="text-1"/>
          <p:cNvSpPr txBox="1"/>
          <p:nvPr/>
        </p:nvSpPr>
        <p:spPr>
          <a:xfrm>
            <a:off x="685800" y="1204155"/>
            <a:ext cx="13868401"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Purpose: show prospective partners the company’s origins, capabilities and direction</a:t>
            </a:r>
          </a:p>
        </p:txBody>
      </p:sp>
      <p:sp>
        <p:nvSpPr>
          <p:cNvPr id="121"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122"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08</a:t>
            </a:r>
          </a:p>
        </p:txBody>
      </p:sp>
      <p:sp>
        <p:nvSpPr>
          <p:cNvPr id="123" name="text-4"/>
          <p:cNvSpPr txBox="1"/>
          <p:nvPr/>
        </p:nvSpPr>
        <p:spPr>
          <a:xfrm>
            <a:off x="685800" y="2571750"/>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01</a:t>
            </a:r>
          </a:p>
        </p:txBody>
      </p:sp>
      <p:sp>
        <p:nvSpPr>
          <p:cNvPr id="124" name="text-5"/>
          <p:cNvSpPr txBox="1"/>
          <p:nvPr/>
        </p:nvSpPr>
        <p:spPr>
          <a:xfrm>
            <a:off x="1333500" y="2571750"/>
            <a:ext cx="66865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6353B"/>
                </a:solidFill>
                <a:latin typeface="Arial"/>
                <a:ea typeface="Arial"/>
                <a:cs typeface="Arial"/>
                <a:sym typeface="Arial"/>
              </a:defRPr>
            </a:lvl1pPr>
          </a:lstStyle>
          <a:p>
            <a:pPr/>
            <a:r>
              <a:t>Company positioning and mission</a:t>
            </a:r>
          </a:p>
        </p:txBody>
      </p:sp>
      <p:sp>
        <p:nvSpPr>
          <p:cNvPr id="125" name="text-6"/>
          <p:cNvSpPr txBox="1"/>
          <p:nvPr/>
        </p:nvSpPr>
        <p:spPr>
          <a:xfrm>
            <a:off x="685800" y="3267075"/>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02</a:t>
            </a:r>
          </a:p>
        </p:txBody>
      </p:sp>
      <p:sp>
        <p:nvSpPr>
          <p:cNvPr id="126" name="text-7"/>
          <p:cNvSpPr txBox="1"/>
          <p:nvPr/>
        </p:nvSpPr>
        <p:spPr>
          <a:xfrm>
            <a:off x="1333500" y="3267075"/>
            <a:ext cx="66865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6353B"/>
                </a:solidFill>
                <a:latin typeface="Arial"/>
                <a:ea typeface="Arial"/>
                <a:cs typeface="Arial"/>
                <a:sym typeface="Arial"/>
              </a:defRPr>
            </a:lvl1pPr>
          </a:lstStyle>
          <a:p>
            <a:pPr/>
            <a:r>
              <a:t>Founding story and founder introduction</a:t>
            </a:r>
          </a:p>
        </p:txBody>
      </p:sp>
      <p:sp>
        <p:nvSpPr>
          <p:cNvPr id="127" name="text-8"/>
          <p:cNvSpPr txBox="1"/>
          <p:nvPr/>
        </p:nvSpPr>
        <p:spPr>
          <a:xfrm>
            <a:off x="685800" y="3962400"/>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03</a:t>
            </a:r>
          </a:p>
        </p:txBody>
      </p:sp>
      <p:sp>
        <p:nvSpPr>
          <p:cNvPr id="128" name="text-9"/>
          <p:cNvSpPr txBox="1"/>
          <p:nvPr/>
        </p:nvSpPr>
        <p:spPr>
          <a:xfrm>
            <a:off x="1333500" y="3962400"/>
            <a:ext cx="66865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6353B"/>
                </a:solidFill>
                <a:latin typeface="Arial"/>
                <a:ea typeface="Arial"/>
                <a:cs typeface="Arial"/>
                <a:sym typeface="Arial"/>
              </a:defRPr>
            </a:lvl1pPr>
          </a:lstStyle>
          <a:p>
            <a:pPr/>
            <a:r>
              <a:t>Research and deployment milestones</a:t>
            </a:r>
          </a:p>
        </p:txBody>
      </p:sp>
      <p:sp>
        <p:nvSpPr>
          <p:cNvPr id="129" name="text-10"/>
          <p:cNvSpPr txBox="1"/>
          <p:nvPr/>
        </p:nvSpPr>
        <p:spPr>
          <a:xfrm>
            <a:off x="685800" y="4657725"/>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04</a:t>
            </a:r>
          </a:p>
        </p:txBody>
      </p:sp>
      <p:sp>
        <p:nvSpPr>
          <p:cNvPr id="130" name="text-11"/>
          <p:cNvSpPr txBox="1"/>
          <p:nvPr/>
        </p:nvSpPr>
        <p:spPr>
          <a:xfrm>
            <a:off x="1333500" y="4657725"/>
            <a:ext cx="66865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6353B"/>
                </a:solidFill>
                <a:latin typeface="Arial"/>
                <a:ea typeface="Arial"/>
                <a:cs typeface="Arial"/>
                <a:sym typeface="Arial"/>
              </a:defRPr>
            </a:lvl1pPr>
          </a:lstStyle>
          <a:p>
            <a:pPr/>
            <a:r>
              <a:t>Approved team profiles, research ties and partners</a:t>
            </a:r>
          </a:p>
        </p:txBody>
      </p:sp>
      <p:sp>
        <p:nvSpPr>
          <p:cNvPr id="131" name="text-12"/>
          <p:cNvSpPr txBox="1"/>
          <p:nvPr/>
        </p:nvSpPr>
        <p:spPr>
          <a:xfrm>
            <a:off x="685800" y="5353050"/>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05</a:t>
            </a:r>
          </a:p>
        </p:txBody>
      </p:sp>
      <p:sp>
        <p:nvSpPr>
          <p:cNvPr id="132" name="text-13"/>
          <p:cNvSpPr txBox="1"/>
          <p:nvPr/>
        </p:nvSpPr>
        <p:spPr>
          <a:xfrm>
            <a:off x="1333500" y="5353050"/>
            <a:ext cx="66865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6353B"/>
                </a:solidFill>
                <a:latin typeface="Arial"/>
                <a:ea typeface="Arial"/>
                <a:cs typeface="Arial"/>
                <a:sym typeface="Arial"/>
              </a:defRPr>
            </a:lvl1pPr>
          </a:lstStyle>
          <a:p>
            <a:pPr/>
            <a:r>
              <a:t>Company values and the FACES program</a:t>
            </a:r>
          </a:p>
        </p:txBody>
      </p:sp>
      <p:sp>
        <p:nvSpPr>
          <p:cNvPr id="133" name="text-14"/>
          <p:cNvSpPr txBox="1"/>
          <p:nvPr/>
        </p:nvSpPr>
        <p:spPr>
          <a:xfrm>
            <a:off x="685800" y="6048375"/>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06</a:t>
            </a:r>
          </a:p>
        </p:txBody>
      </p:sp>
      <p:sp>
        <p:nvSpPr>
          <p:cNvPr id="134" name="text-15"/>
          <p:cNvSpPr txBox="1"/>
          <p:nvPr/>
        </p:nvSpPr>
        <p:spPr>
          <a:xfrm>
            <a:off x="1333500" y="6048375"/>
            <a:ext cx="66865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6353B"/>
                </a:solidFill>
                <a:latin typeface="Arial"/>
                <a:ea typeface="Arial"/>
                <a:cs typeface="Arial"/>
                <a:sym typeface="Arial"/>
              </a:defRPr>
            </a:lvl1pPr>
          </a:lstStyle>
          <a:p>
            <a:pPr/>
            <a:r>
              <a:t>Location and contact details</a:t>
            </a:r>
          </a:p>
        </p:txBody>
      </p:sp>
      <p:sp>
        <p:nvSpPr>
          <p:cNvPr id="135" name="text-16"/>
          <p:cNvSpPr txBox="1"/>
          <p:nvPr/>
        </p:nvSpPr>
        <p:spPr>
          <a:xfrm>
            <a:off x="9286875" y="2619375"/>
            <a:ext cx="4762500" cy="10733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7600">
                <a:solidFill>
                  <a:srgbClr val="367C79"/>
                </a:solidFill>
                <a:latin typeface="Arial"/>
                <a:ea typeface="Arial"/>
                <a:cs typeface="Arial"/>
                <a:sym typeface="Arial"/>
              </a:defRPr>
            </a:lvl1pPr>
          </a:lstStyle>
          <a:p>
            <a:pPr/>
            <a:r>
              <a:t>2022</a:t>
            </a:r>
          </a:p>
        </p:txBody>
      </p:sp>
      <p:sp>
        <p:nvSpPr>
          <p:cNvPr id="136" name="text-17"/>
          <p:cNvSpPr txBox="1"/>
          <p:nvPr/>
        </p:nvSpPr>
        <p:spPr>
          <a:xfrm>
            <a:off x="9286875" y="4010025"/>
            <a:ext cx="4762500" cy="6512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200">
                <a:solidFill>
                  <a:srgbClr val="26353B"/>
                </a:solidFill>
                <a:latin typeface="Arial"/>
                <a:ea typeface="Arial"/>
                <a:cs typeface="Arial"/>
                <a:sym typeface="Arial"/>
              </a:defRPr>
            </a:pPr>
            <a:r>
              <a:t>Founding year stated</a:t>
            </a:r>
          </a:p>
          <a:p>
            <a:pPr>
              <a:defRPr b="1" sz="2200">
                <a:solidFill>
                  <a:srgbClr val="26353B"/>
                </a:solidFill>
                <a:latin typeface="Arial"/>
                <a:ea typeface="Arial"/>
                <a:cs typeface="Arial"/>
                <a:sym typeface="Arial"/>
              </a:defRPr>
            </a:pPr>
            <a:r>
              <a:t>on the current website</a:t>
            </a:r>
          </a:p>
        </p:txBody>
      </p:sp>
      <p:sp>
        <p:nvSpPr>
          <p:cNvPr id="137" name="text-18"/>
          <p:cNvSpPr txBox="1"/>
          <p:nvPr/>
        </p:nvSpPr>
        <p:spPr>
          <a:xfrm>
            <a:off x="9286875" y="5095875"/>
            <a:ext cx="4953000" cy="9056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647478"/>
                </a:solidFill>
                <a:latin typeface="Arial"/>
                <a:ea typeface="Arial"/>
                <a:cs typeface="Arial"/>
                <a:sym typeface="Arial"/>
              </a:defRPr>
            </a:pPr>
            <a:r>
              <a:t>Separate completed work</a:t>
            </a:r>
          </a:p>
          <a:p>
            <a:pPr>
              <a:defRPr sz="2100">
                <a:solidFill>
                  <a:srgbClr val="647478"/>
                </a:solidFill>
                <a:latin typeface="Arial"/>
                <a:ea typeface="Arial"/>
                <a:cs typeface="Arial"/>
                <a:sym typeface="Arial"/>
              </a:defRPr>
            </a:pPr>
            <a:r>
              <a:t>from future targets</a:t>
            </a:r>
          </a:p>
          <a:p>
            <a:pPr>
              <a:defRPr sz="2100">
                <a:solidFill>
                  <a:srgbClr val="647478"/>
                </a:solidFill>
                <a:latin typeface="Arial"/>
                <a:ea typeface="Arial"/>
                <a:cs typeface="Arial"/>
                <a:sym typeface="Arial"/>
              </a:defRPr>
            </a:pPr>
            <a:r>
              <a:t>so milestones remain clear.</a:t>
            </a:r>
          </a:p>
        </p:txBody>
      </p:sp>
      <p:sp>
        <p:nvSpPr>
          <p:cNvPr id="138" name="text-20"/>
          <p:cNvSpPr txBox="1"/>
          <p:nvPr/>
        </p:nvSpPr>
        <p:spPr>
          <a:xfrm>
            <a:off x="685800" y="7334250"/>
            <a:ext cx="138684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26353B"/>
                </a:solidFill>
                <a:latin typeface="Arial"/>
                <a:ea typeface="Arial"/>
                <a:cs typeface="Arial"/>
                <a:sym typeface="Arial"/>
              </a:defRPr>
            </a:lvl1pPr>
          </a:lstStyle>
          <a:p>
            <a:pPr/>
            <a:r>
              <a:t>Connect with Our Team</a:t>
            </a:r>
          </a:p>
        </p:txBody>
      </p:sp>
      <p:sp>
        <p:nvSpPr>
          <p:cNvPr id="139" name="text-17"/>
          <p:cNvSpPr txBox="1"/>
          <p:nvPr/>
        </p:nvSpPr>
        <p:spPr>
          <a:xfrm>
            <a:off x="685800" y="6894853"/>
            <a:ext cx="138684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367C79"/>
                </a:solidFill>
                <a:latin typeface="Arial"/>
                <a:ea typeface="Arial"/>
                <a:cs typeface="Arial"/>
                <a:sym typeface="Arial"/>
              </a:defRPr>
            </a:lvl1pPr>
          </a:lstStyle>
          <a:p>
            <a:pPr/>
            <a:r>
              <a:t>PRIMARY CTA</a:t>
            </a:r>
          </a:p>
        </p:txBody>
      </p:sp>
      <p:sp>
        <p:nvSpPr>
          <p:cNvPr id="140" name="text-4"/>
          <p:cNvSpPr txBox="1"/>
          <p:nvPr/>
        </p:nvSpPr>
        <p:spPr>
          <a:xfrm>
            <a:off x="673267" y="2143838"/>
            <a:ext cx="5334001"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367C79"/>
                </a:solidFill>
                <a:latin typeface="Arial"/>
                <a:ea typeface="Arial"/>
                <a:cs typeface="Arial"/>
                <a:sym typeface="Arial"/>
              </a:defRPr>
            </a:lvl1pPr>
          </a:lstStyle>
          <a:p>
            <a:pPr/>
            <a:r>
              <a:t>Sections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144"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FACES within About Us</a:t>
            </a:r>
          </a:p>
        </p:txBody>
      </p:sp>
      <p:sp>
        <p:nvSpPr>
          <p:cNvPr id="145" name="text-1"/>
          <p:cNvSpPr txBox="1"/>
          <p:nvPr/>
        </p:nvSpPr>
        <p:spPr>
          <a:xfrm>
            <a:off x="685800" y="1194878"/>
            <a:ext cx="138684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Purpose: introduce the workforce program after the company story</a:t>
            </a:r>
          </a:p>
        </p:txBody>
      </p:sp>
      <p:sp>
        <p:nvSpPr>
          <p:cNvPr id="146"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147"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06</a:t>
            </a:r>
          </a:p>
        </p:txBody>
      </p:sp>
      <p:pic>
        <p:nvPicPr>
          <p:cNvPr id="148" name="image4.png" descr="image4.png"/>
          <p:cNvPicPr>
            <a:picLocks noChangeAspect="1"/>
          </p:cNvPicPr>
          <p:nvPr/>
        </p:nvPicPr>
        <p:blipFill>
          <a:blip r:embed="rId3">
            <a:extLst/>
          </a:blip>
          <a:srcRect l="0" t="2703" r="0" b="2703"/>
          <a:stretch>
            <a:fillRect/>
          </a:stretch>
        </p:blipFill>
        <p:spPr>
          <a:xfrm>
            <a:off x="685799" y="1979463"/>
            <a:ext cx="5286376" cy="3333751"/>
          </a:xfrm>
          <a:prstGeom prst="rect">
            <a:avLst/>
          </a:prstGeom>
          <a:ln w="12700">
            <a:miter lim="400000"/>
          </a:ln>
        </p:spPr>
      </p:pic>
      <p:sp>
        <p:nvSpPr>
          <p:cNvPr id="149" name="text-4"/>
          <p:cNvSpPr txBox="1"/>
          <p:nvPr/>
        </p:nvSpPr>
        <p:spPr>
          <a:xfrm>
            <a:off x="685800" y="5480880"/>
            <a:ext cx="5286375" cy="6008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100">
                <a:solidFill>
                  <a:srgbClr val="367C79"/>
                </a:solidFill>
                <a:latin typeface="Arial"/>
                <a:ea typeface="Arial"/>
                <a:cs typeface="Arial"/>
                <a:sym typeface="Arial"/>
              </a:defRPr>
            </a:pPr>
            <a:r>
              <a:t>First release captures program interest</a:t>
            </a:r>
          </a:p>
          <a:p>
            <a:pPr>
              <a:defRPr b="1" sz="2100">
                <a:solidFill>
                  <a:srgbClr val="367C79"/>
                </a:solidFill>
                <a:latin typeface="Arial"/>
                <a:ea typeface="Arial"/>
                <a:cs typeface="Arial"/>
                <a:sym typeface="Arial"/>
              </a:defRPr>
            </a:pPr>
            <a:r>
              <a:t>and training partnership inquiries.</a:t>
            </a:r>
          </a:p>
        </p:txBody>
      </p:sp>
      <p:sp>
        <p:nvSpPr>
          <p:cNvPr id="150" name="text-5"/>
          <p:cNvSpPr txBox="1"/>
          <p:nvPr/>
        </p:nvSpPr>
        <p:spPr>
          <a:xfrm>
            <a:off x="6743700" y="2428875"/>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01</a:t>
            </a:r>
          </a:p>
        </p:txBody>
      </p:sp>
      <p:sp>
        <p:nvSpPr>
          <p:cNvPr id="151" name="text-6"/>
          <p:cNvSpPr txBox="1"/>
          <p:nvPr/>
        </p:nvSpPr>
        <p:spPr>
          <a:xfrm>
            <a:off x="7391400" y="2428875"/>
            <a:ext cx="71628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FACES program introduction</a:t>
            </a:r>
          </a:p>
        </p:txBody>
      </p:sp>
      <p:sp>
        <p:nvSpPr>
          <p:cNvPr id="152" name="text-7"/>
          <p:cNvSpPr txBox="1"/>
          <p:nvPr/>
        </p:nvSpPr>
        <p:spPr>
          <a:xfrm>
            <a:off x="6743700" y="3105150"/>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02</a:t>
            </a:r>
          </a:p>
        </p:txBody>
      </p:sp>
      <p:sp>
        <p:nvSpPr>
          <p:cNvPr id="153" name="text-8"/>
          <p:cNvSpPr txBox="1"/>
          <p:nvPr/>
        </p:nvSpPr>
        <p:spPr>
          <a:xfrm>
            <a:off x="7391400" y="3105150"/>
            <a:ext cx="71628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Early-career professionals and relevant graduates</a:t>
            </a:r>
          </a:p>
        </p:txBody>
      </p:sp>
      <p:sp>
        <p:nvSpPr>
          <p:cNvPr id="154" name="text-9"/>
          <p:cNvSpPr txBox="1"/>
          <p:nvPr/>
        </p:nvSpPr>
        <p:spPr>
          <a:xfrm>
            <a:off x="6743700" y="3781425"/>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03</a:t>
            </a:r>
          </a:p>
        </p:txBody>
      </p:sp>
      <p:sp>
        <p:nvSpPr>
          <p:cNvPr id="155" name="text-10"/>
          <p:cNvSpPr txBox="1"/>
          <p:nvPr/>
        </p:nvSpPr>
        <p:spPr>
          <a:xfrm>
            <a:off x="7391400" y="3781425"/>
            <a:ext cx="71628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Energy trades, engineering, operations and consulting</a:t>
            </a:r>
          </a:p>
        </p:txBody>
      </p:sp>
      <p:sp>
        <p:nvSpPr>
          <p:cNvPr id="156" name="text-11"/>
          <p:cNvSpPr txBox="1"/>
          <p:nvPr/>
        </p:nvSpPr>
        <p:spPr>
          <a:xfrm>
            <a:off x="6743700" y="4457700"/>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04</a:t>
            </a:r>
          </a:p>
        </p:txBody>
      </p:sp>
      <p:sp>
        <p:nvSpPr>
          <p:cNvPr id="157" name="text-12"/>
          <p:cNvSpPr txBox="1"/>
          <p:nvPr/>
        </p:nvSpPr>
        <p:spPr>
          <a:xfrm>
            <a:off x="7391400" y="4457700"/>
            <a:ext cx="71628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Express interest, check eligibility, confirm an opportunity, join</a:t>
            </a:r>
          </a:p>
        </p:txBody>
      </p:sp>
      <p:sp>
        <p:nvSpPr>
          <p:cNvPr id="158" name="text-13"/>
          <p:cNvSpPr txBox="1"/>
          <p:nvPr/>
        </p:nvSpPr>
        <p:spPr>
          <a:xfrm>
            <a:off x="6743700" y="5133975"/>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05</a:t>
            </a:r>
          </a:p>
        </p:txBody>
      </p:sp>
      <p:sp>
        <p:nvSpPr>
          <p:cNvPr id="159" name="text-14"/>
          <p:cNvSpPr txBox="1"/>
          <p:nvPr/>
        </p:nvSpPr>
        <p:spPr>
          <a:xfrm>
            <a:off x="7391400" y="5133975"/>
            <a:ext cx="71628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Approved partners, projects and participant stories</a:t>
            </a:r>
          </a:p>
        </p:txBody>
      </p:sp>
      <p:sp>
        <p:nvSpPr>
          <p:cNvPr id="160" name="text-15"/>
          <p:cNvSpPr txBox="1"/>
          <p:nvPr/>
        </p:nvSpPr>
        <p:spPr>
          <a:xfrm>
            <a:off x="6743700" y="5810250"/>
            <a:ext cx="49530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367C79"/>
                </a:solidFill>
                <a:latin typeface="Arial"/>
                <a:ea typeface="Arial"/>
                <a:cs typeface="Arial"/>
                <a:sym typeface="Arial"/>
              </a:defRPr>
            </a:lvl1pPr>
          </a:lstStyle>
          <a:p>
            <a:pPr/>
            <a:r>
              <a:t>06</a:t>
            </a:r>
          </a:p>
        </p:txBody>
      </p:sp>
      <p:sp>
        <p:nvSpPr>
          <p:cNvPr id="161" name="text-16"/>
          <p:cNvSpPr txBox="1"/>
          <p:nvPr/>
        </p:nvSpPr>
        <p:spPr>
          <a:xfrm>
            <a:off x="7391400" y="5810250"/>
            <a:ext cx="71628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FAQs and inquiry entry points</a:t>
            </a:r>
          </a:p>
        </p:txBody>
      </p:sp>
      <p:sp>
        <p:nvSpPr>
          <p:cNvPr id="162" name="text-18"/>
          <p:cNvSpPr txBox="1"/>
          <p:nvPr/>
        </p:nvSpPr>
        <p:spPr>
          <a:xfrm>
            <a:off x="685800" y="7153275"/>
            <a:ext cx="138684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26353B"/>
                </a:solidFill>
                <a:latin typeface="Arial"/>
                <a:ea typeface="Arial"/>
                <a:cs typeface="Arial"/>
                <a:sym typeface="Arial"/>
              </a:defRPr>
            </a:lvl1pPr>
          </a:lstStyle>
          <a:p>
            <a:pPr/>
            <a:r>
              <a:t>Register Your Interest</a:t>
            </a:r>
          </a:p>
        </p:txBody>
      </p:sp>
      <p:sp>
        <p:nvSpPr>
          <p:cNvPr id="163" name="text-19"/>
          <p:cNvSpPr txBox="1"/>
          <p:nvPr/>
        </p:nvSpPr>
        <p:spPr>
          <a:xfrm>
            <a:off x="685800" y="7600950"/>
            <a:ext cx="1386840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647478"/>
                </a:solidFill>
                <a:latin typeface="Arial"/>
                <a:ea typeface="Arial"/>
                <a:cs typeface="Arial"/>
                <a:sym typeface="Arial"/>
              </a:defRPr>
            </a:lvl1pPr>
          </a:lstStyle>
          <a:p>
            <a:pPr/>
            <a:r>
              <a:t>This content sits within About Us. Resume uploads and applicant screening are outside v1.</a:t>
            </a:r>
          </a:p>
        </p:txBody>
      </p:sp>
      <p:sp>
        <p:nvSpPr>
          <p:cNvPr id="164" name="text-17"/>
          <p:cNvSpPr txBox="1"/>
          <p:nvPr/>
        </p:nvSpPr>
        <p:spPr>
          <a:xfrm>
            <a:off x="685799" y="6730169"/>
            <a:ext cx="13868401"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367C79"/>
                </a:solidFill>
                <a:latin typeface="Arial"/>
                <a:ea typeface="Arial"/>
                <a:cs typeface="Arial"/>
                <a:sym typeface="Arial"/>
              </a:defRPr>
            </a:lvl1pPr>
          </a:lstStyle>
          <a:p>
            <a:pPr/>
            <a:r>
              <a:t>PRIMARY CTA</a:t>
            </a:r>
          </a:p>
        </p:txBody>
      </p:sp>
      <p:sp>
        <p:nvSpPr>
          <p:cNvPr id="165" name="text-4"/>
          <p:cNvSpPr txBox="1"/>
          <p:nvPr/>
        </p:nvSpPr>
        <p:spPr>
          <a:xfrm>
            <a:off x="6673145" y="1979463"/>
            <a:ext cx="5334001"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367C79"/>
                </a:solidFill>
                <a:latin typeface="Arial"/>
                <a:ea typeface="Arial"/>
                <a:cs typeface="Arial"/>
                <a:sym typeface="Arial"/>
              </a:defRPr>
            </a:lvl1pPr>
          </a:lstStyle>
          <a:p>
            <a:pPr/>
            <a:r>
              <a:t>Sections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169"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Contact Us: capture useful inquiries with a short form</a:t>
            </a:r>
          </a:p>
        </p:txBody>
      </p:sp>
      <p:sp>
        <p:nvSpPr>
          <p:cNvPr id="170" name="text-1"/>
          <p:cNvSpPr txBox="1"/>
          <p:nvPr/>
        </p:nvSpPr>
        <p:spPr>
          <a:xfrm>
            <a:off x="685800" y="1256893"/>
            <a:ext cx="13868401"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Purpose: capture enough context to start a conversation and identify intent</a:t>
            </a:r>
          </a:p>
        </p:txBody>
      </p:sp>
      <p:sp>
        <p:nvSpPr>
          <p:cNvPr id="171"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172"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09</a:t>
            </a:r>
          </a:p>
        </p:txBody>
      </p:sp>
      <p:graphicFrame>
        <p:nvGraphicFramePr>
          <p:cNvPr id="173" name="Table 1"/>
          <p:cNvGraphicFramePr/>
          <p:nvPr/>
        </p:nvGraphicFramePr>
        <p:xfrm>
          <a:off x="685800" y="2428875"/>
          <a:ext cx="13868400" cy="28003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524125"/>
                <a:gridCol w="11344275"/>
              </a:tblGrid>
              <a:tr h="700088">
                <a:tc>
                  <a:txBody>
                    <a:bodyPr/>
                    <a:lstStyle/>
                    <a:p>
                      <a:pPr algn="l">
                        <a:defRPr sz="1800"/>
                      </a:pPr>
                      <a:r>
                        <a:rPr b="1" sz="2100">
                          <a:solidFill>
                            <a:srgbClr val="FFFFFF"/>
                          </a:solidFill>
                          <a:latin typeface="Arial"/>
                          <a:ea typeface="Arial"/>
                          <a:cs typeface="Arial"/>
                          <a:sym typeface="Arial"/>
                        </a:rPr>
                        <a:t>Form fields</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sz="2100">
                          <a:solidFill>
                            <a:srgbClr val="FFFFFF"/>
                          </a:solidFill>
                          <a:latin typeface="Arial"/>
                          <a:ea typeface="Arial"/>
                          <a:cs typeface="Arial"/>
                          <a:sym typeface="Arial"/>
                        </a:rPr>
                        <a:t>Content</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r>
              <a:tr h="700088">
                <a:tc>
                  <a:txBody>
                    <a:bodyPr/>
                    <a:lstStyle/>
                    <a:p>
                      <a:pPr algn="l">
                        <a:defRPr sz="1800"/>
                      </a:pPr>
                      <a:r>
                        <a:rPr sz="2100">
                          <a:solidFill>
                            <a:srgbClr val="26353B"/>
                          </a:solidFill>
                          <a:latin typeface="Arial"/>
                          <a:ea typeface="Arial"/>
                          <a:cs typeface="Arial"/>
                          <a:sym typeface="Arial"/>
                        </a:rPr>
                        <a:t>Required</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2100">
                          <a:solidFill>
                            <a:srgbClr val="26353B"/>
                          </a:solidFill>
                          <a:latin typeface="Arial"/>
                          <a:ea typeface="Arial"/>
                          <a:cs typeface="Arial"/>
                          <a:sym typeface="Arial"/>
                        </a:rPr>
                        <a:t>Name, email, inquiry type and message</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r h="700088">
                <a:tc>
                  <a:txBody>
                    <a:bodyPr/>
                    <a:lstStyle/>
                    <a:p>
                      <a:pPr algn="l">
                        <a:defRPr sz="1800"/>
                      </a:pPr>
                      <a:r>
                        <a:rPr sz="2100">
                          <a:solidFill>
                            <a:srgbClr val="26353B"/>
                          </a:solidFill>
                          <a:latin typeface="Arial"/>
                          <a:ea typeface="Arial"/>
                          <a:cs typeface="Arial"/>
                          <a:sym typeface="Arial"/>
                        </a:rPr>
                        <a:t>Optional</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sz="2100">
                          <a:solidFill>
                            <a:srgbClr val="26353B"/>
                          </a:solidFill>
                          <a:latin typeface="Arial"/>
                          <a:ea typeface="Arial"/>
                          <a:cs typeface="Arial"/>
                          <a:sym typeface="Arial"/>
                        </a:rPr>
                        <a:t>Company / school / organization and role</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r>
              <a:tr h="700088">
                <a:tc>
                  <a:txBody>
                    <a:bodyPr/>
                    <a:lstStyle/>
                    <a:p>
                      <a:pPr algn="l">
                        <a:defRPr sz="1800"/>
                      </a:pPr>
                      <a:r>
                        <a:rPr sz="2100">
                          <a:solidFill>
                            <a:srgbClr val="26353B"/>
                          </a:solidFill>
                          <a:latin typeface="Arial"/>
                          <a:ea typeface="Arial"/>
                          <a:cs typeface="Arial"/>
                          <a:sym typeface="Arial"/>
                        </a:rPr>
                        <a:t>Inquiry types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2100">
                          <a:solidFill>
                            <a:srgbClr val="26353B"/>
                          </a:solidFill>
                          <a:latin typeface="Arial"/>
                          <a:ea typeface="Arial"/>
                          <a:cs typeface="Arial"/>
                          <a:sym typeface="Arial"/>
                        </a:rPr>
                        <a:t>POC site partnership, technology inquiry, FACES interest, other</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bl>
          </a:graphicData>
        </a:graphic>
      </p:graphicFrame>
      <p:sp>
        <p:nvSpPr>
          <p:cNvPr id="174" name="text-4"/>
          <p:cNvSpPr txBox="1"/>
          <p:nvPr/>
        </p:nvSpPr>
        <p:spPr>
          <a:xfrm>
            <a:off x="685800" y="5581650"/>
            <a:ext cx="24765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367C79"/>
                </a:solidFill>
                <a:latin typeface="Arial"/>
                <a:ea typeface="Arial"/>
                <a:cs typeface="Arial"/>
                <a:sym typeface="Arial"/>
              </a:defRPr>
            </a:lvl1pPr>
          </a:lstStyle>
          <a:p>
            <a:pPr/>
            <a:r>
              <a:t>Data use</a:t>
            </a:r>
          </a:p>
        </p:txBody>
      </p:sp>
      <p:sp>
        <p:nvSpPr>
          <p:cNvPr id="175" name="text-5"/>
          <p:cNvSpPr txBox="1"/>
          <p:nvPr/>
        </p:nvSpPr>
        <p:spPr>
          <a:xfrm>
            <a:off x="3543300" y="5581650"/>
            <a:ext cx="110109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Link the privacy policy. Marketing opt-in is optional and unchecked.</a:t>
            </a:r>
          </a:p>
        </p:txBody>
      </p:sp>
      <p:sp>
        <p:nvSpPr>
          <p:cNvPr id="176" name="text-6"/>
          <p:cNvSpPr txBox="1"/>
          <p:nvPr/>
        </p:nvSpPr>
        <p:spPr>
          <a:xfrm>
            <a:off x="685800" y="6286500"/>
            <a:ext cx="24765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367C79"/>
                </a:solidFill>
                <a:latin typeface="Arial"/>
                <a:ea typeface="Arial"/>
                <a:cs typeface="Arial"/>
                <a:sym typeface="Arial"/>
              </a:defRPr>
            </a:lvl1pPr>
          </a:lstStyle>
          <a:p>
            <a:pPr/>
            <a:r>
              <a:t>Submission feedback</a:t>
            </a:r>
          </a:p>
        </p:txBody>
      </p:sp>
      <p:sp>
        <p:nvSpPr>
          <p:cNvPr id="177" name="text-7"/>
          <p:cNvSpPr txBox="1"/>
          <p:nvPr/>
        </p:nvSpPr>
        <p:spPr>
          <a:xfrm>
            <a:off x="3543300" y="6286500"/>
            <a:ext cx="110109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Confirm success. Preserve input and offer retry if submission fails.</a:t>
            </a:r>
          </a:p>
        </p:txBody>
      </p:sp>
      <p:sp>
        <p:nvSpPr>
          <p:cNvPr id="178" name="text-8"/>
          <p:cNvSpPr txBox="1"/>
          <p:nvPr/>
        </p:nvSpPr>
        <p:spPr>
          <a:xfrm>
            <a:off x="685800" y="6991350"/>
            <a:ext cx="247650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367C79"/>
                </a:solidFill>
                <a:latin typeface="Arial"/>
                <a:ea typeface="Arial"/>
                <a:cs typeface="Arial"/>
                <a:sym typeface="Arial"/>
              </a:defRPr>
            </a:lvl1pPr>
          </a:lstStyle>
          <a:p>
            <a:pPr/>
            <a:r>
              <a:t>Response commitment</a:t>
            </a:r>
          </a:p>
        </p:txBody>
      </p:sp>
      <p:sp>
        <p:nvSpPr>
          <p:cNvPr id="179" name="text-9"/>
          <p:cNvSpPr txBox="1"/>
          <p:nvPr/>
        </p:nvSpPr>
        <p:spPr>
          <a:xfrm>
            <a:off x="3543300" y="6991350"/>
            <a:ext cx="1101090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Publish a response time only after client confirmation.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183"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CRM: record every inquiry and track follow-up</a:t>
            </a:r>
          </a:p>
        </p:txBody>
      </p:sp>
      <p:sp>
        <p:nvSpPr>
          <p:cNvPr id="184" name="text-1"/>
          <p:cNvSpPr txBox="1"/>
          <p:nvPr/>
        </p:nvSpPr>
        <p:spPr>
          <a:xfrm>
            <a:off x="685800" y="1225885"/>
            <a:ext cx="13868400"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First release: centralize leads, identify sources and support team follow-up</a:t>
            </a:r>
          </a:p>
        </p:txBody>
      </p:sp>
      <p:sp>
        <p:nvSpPr>
          <p:cNvPr id="185"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186"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10</a:t>
            </a:r>
          </a:p>
        </p:txBody>
      </p:sp>
      <p:sp>
        <p:nvSpPr>
          <p:cNvPr id="187" name="text-4"/>
          <p:cNvSpPr txBox="1"/>
          <p:nvPr/>
        </p:nvSpPr>
        <p:spPr>
          <a:xfrm>
            <a:off x="685800" y="2381250"/>
            <a:ext cx="342900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01  Submit form</a:t>
            </a:r>
          </a:p>
        </p:txBody>
      </p:sp>
      <p:sp>
        <p:nvSpPr>
          <p:cNvPr id="188" name="text-5"/>
          <p:cNvSpPr txBox="1"/>
          <p:nvPr/>
        </p:nvSpPr>
        <p:spPr>
          <a:xfrm>
            <a:off x="4229100" y="2381250"/>
            <a:ext cx="342900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02  Save inquiry</a:t>
            </a:r>
          </a:p>
        </p:txBody>
      </p:sp>
      <p:sp>
        <p:nvSpPr>
          <p:cNvPr id="189" name="text-6"/>
          <p:cNvSpPr txBox="1"/>
          <p:nvPr/>
        </p:nvSpPr>
        <p:spPr>
          <a:xfrm>
            <a:off x="7772400" y="2381250"/>
            <a:ext cx="342900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03  Notify owner</a:t>
            </a:r>
          </a:p>
        </p:txBody>
      </p:sp>
      <p:sp>
        <p:nvSpPr>
          <p:cNvPr id="190" name="text-7"/>
          <p:cNvSpPr txBox="1"/>
          <p:nvPr/>
        </p:nvSpPr>
        <p:spPr>
          <a:xfrm>
            <a:off x="11315700" y="2381250"/>
            <a:ext cx="342900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04  Track follow-up</a:t>
            </a:r>
          </a:p>
        </p:txBody>
      </p:sp>
      <p:graphicFrame>
        <p:nvGraphicFramePr>
          <p:cNvPr id="191" name="Table 1"/>
          <p:cNvGraphicFramePr/>
          <p:nvPr/>
        </p:nvGraphicFramePr>
        <p:xfrm>
          <a:off x="685800" y="3190875"/>
          <a:ext cx="13868400" cy="27622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934200"/>
                <a:gridCol w="6934200"/>
              </a:tblGrid>
              <a:tr h="690563">
                <a:tc>
                  <a:txBody>
                    <a:bodyPr/>
                    <a:lstStyle/>
                    <a:p>
                      <a:pPr algn="l">
                        <a:defRPr sz="1800"/>
                      </a:pPr>
                      <a:r>
                        <a:rPr b="1" sz="1900">
                          <a:solidFill>
                            <a:srgbClr val="FFFFFF"/>
                          </a:solidFill>
                          <a:latin typeface="Arial"/>
                          <a:ea typeface="Arial"/>
                          <a:cs typeface="Arial"/>
                          <a:sym typeface="Arial"/>
                        </a:rPr>
                        <a:t>Inquiry record</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sz="1900">
                          <a:solidFill>
                            <a:srgbClr val="FFFFFF"/>
                          </a:solidFill>
                          <a:latin typeface="Arial"/>
                          <a:ea typeface="Arial"/>
                          <a:cs typeface="Arial"/>
                          <a:sym typeface="Arial"/>
                        </a:rPr>
                        <a:t>Management capability</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r>
              <a:tr h="690563">
                <a:tc>
                  <a:txBody>
                    <a:bodyPr/>
                    <a:lstStyle/>
                    <a:p>
                      <a:pPr algn="l">
                        <a:defRPr sz="1800"/>
                      </a:pPr>
                      <a:r>
                        <a:rPr sz="1900">
                          <a:solidFill>
                            <a:srgbClr val="26353B"/>
                          </a:solidFill>
                          <a:latin typeface="Arial"/>
                          <a:ea typeface="Arial"/>
                          <a:cs typeface="Arial"/>
                          <a:sym typeface="Arial"/>
                        </a:rPr>
                        <a:t>Name, email, organization and message</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1900">
                          <a:solidFill>
                            <a:srgbClr val="26353B"/>
                          </a:solidFill>
                          <a:latin typeface="Arial"/>
                          <a:ea typeface="Arial"/>
                          <a:cs typeface="Arial"/>
                          <a:sym typeface="Arial"/>
                        </a:rPr>
                        <a:t>List and detail views, search and filters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r h="690563">
                <a:tc>
                  <a:txBody>
                    <a:bodyPr/>
                    <a:lstStyle/>
                    <a:p>
                      <a:pPr algn="l">
                        <a:defRPr sz="1800"/>
                      </a:pPr>
                      <a:r>
                        <a:rPr sz="1900">
                          <a:solidFill>
                            <a:srgbClr val="26353B"/>
                          </a:solidFill>
                          <a:latin typeface="Arial"/>
                          <a:ea typeface="Arial"/>
                          <a:cs typeface="Arial"/>
                          <a:sym typeface="Arial"/>
                        </a:rPr>
                        <a:t>Received time, source page, language and type</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sz="1900">
                          <a:solidFill>
                            <a:srgbClr val="26353B"/>
                          </a:solidFill>
                          <a:latin typeface="Arial"/>
                          <a:ea typeface="Arial"/>
                          <a:cs typeface="Arial"/>
                          <a:sym typeface="Arial"/>
                        </a:rPr>
                        <a:t>Notes and CSV export</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r>
              <a:tr h="690563">
                <a:tc>
                  <a:txBody>
                    <a:bodyPr/>
                    <a:lstStyle/>
                    <a:p>
                      <a:pPr algn="l">
                        <a:defRPr sz="1800"/>
                      </a:pPr>
                      <a:r>
                        <a:rPr sz="1900">
                          <a:solidFill>
                            <a:srgbClr val="26353B"/>
                          </a:solidFill>
                          <a:latin typeface="Arial"/>
                          <a:ea typeface="Arial"/>
                          <a:cs typeface="Arial"/>
                          <a:sym typeface="Arial"/>
                        </a:rPr>
                        <a:t>Preserve repeat inquiries from the same email</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1900">
                          <a:solidFill>
                            <a:srgbClr val="26353B"/>
                          </a:solidFill>
                          <a:latin typeface="Arial"/>
                          <a:ea typeface="Arial"/>
                          <a:cs typeface="Arial"/>
                          <a:sym typeface="Arial"/>
                        </a:rPr>
                        <a:t>Admin login with restricted access</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bl>
          </a:graphicData>
        </a:graphic>
      </p:graphicFrame>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195"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Bilingual delivery, verified end to end</a:t>
            </a:r>
          </a:p>
        </p:txBody>
      </p:sp>
      <p:sp>
        <p:nvSpPr>
          <p:cNvPr id="196" name="text-1"/>
          <p:cNvSpPr txBox="1"/>
          <p:nvPr/>
        </p:nvSpPr>
        <p:spPr>
          <a:xfrm>
            <a:off x="685800" y="1272396"/>
            <a:ext cx="13868401"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Traditional Chinese and English cover content, forms and site interactions</a:t>
            </a:r>
          </a:p>
        </p:txBody>
      </p:sp>
      <p:sp>
        <p:nvSpPr>
          <p:cNvPr id="197"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198"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11</a:t>
            </a:r>
          </a:p>
        </p:txBody>
      </p:sp>
      <p:sp>
        <p:nvSpPr>
          <p:cNvPr id="199" name="text-4"/>
          <p:cNvSpPr txBox="1"/>
          <p:nvPr/>
        </p:nvSpPr>
        <p:spPr>
          <a:xfrm>
            <a:off x="685800" y="2999871"/>
            <a:ext cx="5810250" cy="11232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7800">
                <a:solidFill>
                  <a:srgbClr val="367C79"/>
                </a:solidFill>
                <a:latin typeface="Arial"/>
                <a:ea typeface="Arial"/>
                <a:cs typeface="Arial"/>
                <a:sym typeface="Arial"/>
              </a:defRPr>
            </a:lvl1pPr>
          </a:lstStyle>
          <a:p>
            <a:pPr/>
            <a:r>
              <a:t>5 × 2</a:t>
            </a:r>
          </a:p>
        </p:txBody>
      </p:sp>
      <p:sp>
        <p:nvSpPr>
          <p:cNvPr id="200" name="text-5"/>
          <p:cNvSpPr txBox="1"/>
          <p:nvPr/>
        </p:nvSpPr>
        <p:spPr>
          <a:xfrm>
            <a:off x="685800" y="4200525"/>
            <a:ext cx="581025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500">
                <a:solidFill>
                  <a:srgbClr val="26353B"/>
                </a:solidFill>
                <a:latin typeface="Arial"/>
                <a:ea typeface="Arial"/>
                <a:cs typeface="Arial"/>
                <a:sym typeface="Arial"/>
              </a:defRPr>
            </a:lvl1pPr>
          </a:lstStyle>
          <a:p>
            <a:pPr/>
            <a:r>
              <a:t>Five pages × two languages</a:t>
            </a:r>
          </a:p>
        </p:txBody>
      </p:sp>
      <p:sp>
        <p:nvSpPr>
          <p:cNvPr id="201" name="text-6"/>
          <p:cNvSpPr txBox="1"/>
          <p:nvPr/>
        </p:nvSpPr>
        <p:spPr>
          <a:xfrm>
            <a:off x="685800" y="4981575"/>
            <a:ext cx="5715000" cy="6008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647478"/>
                </a:solidFill>
                <a:latin typeface="Arial"/>
                <a:ea typeface="Arial"/>
                <a:cs typeface="Arial"/>
                <a:sym typeface="Arial"/>
              </a:defRPr>
            </a:pPr>
            <a:r>
              <a:t>10 localized pages</a:t>
            </a:r>
          </a:p>
          <a:p>
            <a:pPr>
              <a:defRPr sz="2100">
                <a:solidFill>
                  <a:srgbClr val="647478"/>
                </a:solidFill>
                <a:latin typeface="Arial"/>
                <a:ea typeface="Arial"/>
                <a:cs typeface="Arial"/>
                <a:sym typeface="Arial"/>
              </a:defRPr>
            </a:pPr>
            <a:r>
              <a:t>Checked on desktop and mobile</a:t>
            </a:r>
          </a:p>
        </p:txBody>
      </p:sp>
      <p:sp>
        <p:nvSpPr>
          <p:cNvPr id="202" name="text-7"/>
          <p:cNvSpPr txBox="1"/>
          <p:nvPr/>
        </p:nvSpPr>
        <p:spPr>
          <a:xfrm>
            <a:off x="7334250" y="2543175"/>
            <a:ext cx="721995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Complete content</a:t>
            </a:r>
          </a:p>
        </p:txBody>
      </p:sp>
      <p:sp>
        <p:nvSpPr>
          <p:cNvPr id="203" name="text-8"/>
          <p:cNvSpPr txBox="1"/>
          <p:nvPr/>
        </p:nvSpPr>
        <p:spPr>
          <a:xfrm>
            <a:off x="7334250" y="3038475"/>
            <a:ext cx="721995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Navigation, copy, actions, forms and messages</a:t>
            </a:r>
          </a:p>
        </p:txBody>
      </p:sp>
      <p:sp>
        <p:nvSpPr>
          <p:cNvPr id="204" name="text-9"/>
          <p:cNvSpPr txBox="1"/>
          <p:nvPr/>
        </p:nvSpPr>
        <p:spPr>
          <a:xfrm>
            <a:off x="7334250" y="3733800"/>
            <a:ext cx="721995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Language consistency</a:t>
            </a:r>
          </a:p>
        </p:txBody>
      </p:sp>
      <p:sp>
        <p:nvSpPr>
          <p:cNvPr id="205" name="text-10"/>
          <p:cNvSpPr txBox="1"/>
          <p:nvPr/>
        </p:nvSpPr>
        <p:spPr>
          <a:xfrm>
            <a:off x="7334250" y="4229100"/>
            <a:ext cx="721995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Shared terminology and page-preserving switching</a:t>
            </a:r>
          </a:p>
        </p:txBody>
      </p:sp>
      <p:sp>
        <p:nvSpPr>
          <p:cNvPr id="206" name="text-11"/>
          <p:cNvSpPr txBox="1"/>
          <p:nvPr/>
        </p:nvSpPr>
        <p:spPr>
          <a:xfrm>
            <a:off x="7334250" y="4924425"/>
            <a:ext cx="721995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Working integrations</a:t>
            </a:r>
          </a:p>
        </p:txBody>
      </p:sp>
      <p:sp>
        <p:nvSpPr>
          <p:cNvPr id="207" name="text-12"/>
          <p:cNvSpPr txBox="1"/>
          <p:nvPr/>
        </p:nvSpPr>
        <p:spPr>
          <a:xfrm>
            <a:off x="7334250" y="5419725"/>
            <a:ext cx="721995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CRM capture, owner alerts and basic spam protection</a:t>
            </a:r>
          </a:p>
        </p:txBody>
      </p:sp>
      <p:sp>
        <p:nvSpPr>
          <p:cNvPr id="208" name="text-13"/>
          <p:cNvSpPr txBox="1"/>
          <p:nvPr/>
        </p:nvSpPr>
        <p:spPr>
          <a:xfrm>
            <a:off x="7334250" y="6115050"/>
            <a:ext cx="7219950" cy="333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367C79"/>
                </a:solidFill>
                <a:latin typeface="Arial"/>
                <a:ea typeface="Arial"/>
                <a:cs typeface="Arial"/>
                <a:sym typeface="Arial"/>
              </a:defRPr>
            </a:lvl1pPr>
          </a:lstStyle>
          <a:p>
            <a:pPr/>
            <a:r>
              <a:t>Website handover</a:t>
            </a:r>
          </a:p>
        </p:txBody>
      </p:sp>
      <p:sp>
        <p:nvSpPr>
          <p:cNvPr id="209" name="text-14"/>
          <p:cNvSpPr txBox="1"/>
          <p:nvPr/>
        </p:nvSpPr>
        <p:spPr>
          <a:xfrm>
            <a:off x="7334250" y="6610350"/>
            <a:ext cx="7219950"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6353B"/>
                </a:solidFill>
                <a:latin typeface="Arial"/>
                <a:ea typeface="Arial"/>
                <a:cs typeface="Arial"/>
                <a:sym typeface="Arial"/>
              </a:defRPr>
            </a:lvl1pPr>
          </a:lstStyle>
          <a:p>
            <a:pPr/>
            <a:r>
              <a:t>SEO titles/descriptions, URL fixes and admin guidance</a:t>
            </a:r>
          </a:p>
        </p:txBody>
      </p:sp>
      <p:sp>
        <p:nvSpPr>
          <p:cNvPr id="210" name="text-15"/>
          <p:cNvSpPr txBox="1"/>
          <p:nvPr/>
        </p:nvSpPr>
        <p:spPr>
          <a:xfrm>
            <a:off x="685800" y="7477125"/>
            <a:ext cx="138684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26353B"/>
                </a:solidFill>
                <a:latin typeface="Arial"/>
                <a:ea typeface="Arial"/>
                <a:cs typeface="Arial"/>
                <a:sym typeface="Arial"/>
              </a:defRPr>
            </a:lvl1pPr>
          </a:lstStyle>
          <a:p>
            <a:pPr/>
            <a:r>
              <a:t>Acceptance includes form success/failure, POC categorization, repeat inquiries, access restrictions and export.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7F5"/>
        </a:solidFill>
      </p:bgPr>
    </p:bg>
    <p:spTree>
      <p:nvGrpSpPr>
        <p:cNvPr id="1" name=""/>
        <p:cNvGrpSpPr/>
        <p:nvPr/>
      </p:nvGrpSpPr>
      <p:grpSpPr>
        <a:xfrm>
          <a:off x="0" y="0"/>
          <a:ext cx="0" cy="0"/>
          <a:chOff x="0" y="0"/>
          <a:chExt cx="0" cy="0"/>
        </a:xfrm>
      </p:grpSpPr>
      <p:sp>
        <p:nvSpPr>
          <p:cNvPr id="214" name="text-0"/>
          <p:cNvSpPr txBox="1"/>
          <p:nvPr/>
        </p:nvSpPr>
        <p:spPr>
          <a:xfrm>
            <a:off x="685800" y="619125"/>
            <a:ext cx="13868400" cy="5184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600">
                <a:solidFill>
                  <a:srgbClr val="26353B"/>
                </a:solidFill>
                <a:latin typeface="Arial"/>
                <a:ea typeface="Arial"/>
                <a:cs typeface="Arial"/>
                <a:sym typeface="Arial"/>
              </a:defRPr>
            </a:lvl1pPr>
          </a:lstStyle>
          <a:p>
            <a:pPr/>
            <a:r>
              <a:t>Delivery schedule: bilingual website and CRM by Sep 14</a:t>
            </a:r>
          </a:p>
        </p:txBody>
      </p:sp>
      <p:sp>
        <p:nvSpPr>
          <p:cNvPr id="215" name="text-1"/>
          <p:cNvSpPr txBox="1"/>
          <p:nvPr/>
        </p:nvSpPr>
        <p:spPr>
          <a:xfrm>
            <a:off x="685799" y="1272396"/>
            <a:ext cx="13868401"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647478"/>
                </a:solidFill>
                <a:latin typeface="Arial"/>
                <a:ea typeface="Arial"/>
                <a:cs typeface="Arial"/>
                <a:sym typeface="Arial"/>
              </a:defRPr>
            </a:lvl1pPr>
          </a:lstStyle>
          <a:p>
            <a:pPr/>
            <a:r>
              <a:t>Target delivery: 14 September 2026. Launch follows client approval.</a:t>
            </a:r>
          </a:p>
        </p:txBody>
      </p:sp>
      <p:sp>
        <p:nvSpPr>
          <p:cNvPr id="216" name="text-2"/>
          <p:cNvSpPr txBox="1"/>
          <p:nvPr/>
        </p:nvSpPr>
        <p:spPr>
          <a:xfrm>
            <a:off x="685800" y="8086725"/>
            <a:ext cx="3333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ThermoVerse</a:t>
            </a:r>
          </a:p>
        </p:txBody>
      </p:sp>
      <p:sp>
        <p:nvSpPr>
          <p:cNvPr id="217" name="text-3"/>
          <p:cNvSpPr txBox="1"/>
          <p:nvPr/>
        </p:nvSpPr>
        <p:spPr>
          <a:xfrm>
            <a:off x="14097000" y="8086725"/>
            <a:ext cx="457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47478"/>
                </a:solidFill>
                <a:latin typeface="Arial"/>
                <a:ea typeface="Arial"/>
                <a:cs typeface="Arial"/>
                <a:sym typeface="Arial"/>
              </a:defRPr>
            </a:lvl1pPr>
          </a:lstStyle>
          <a:p>
            <a:pPr/>
            <a:r>
              <a:t>12</a:t>
            </a:r>
          </a:p>
        </p:txBody>
      </p:sp>
      <p:graphicFrame>
        <p:nvGraphicFramePr>
          <p:cNvPr id="218" name="Table 1"/>
          <p:cNvGraphicFramePr/>
          <p:nvPr/>
        </p:nvGraphicFramePr>
        <p:xfrm>
          <a:off x="685800" y="2266950"/>
          <a:ext cx="13868400" cy="48006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28750"/>
                <a:gridCol w="4171950"/>
                <a:gridCol w="8267700"/>
              </a:tblGrid>
              <a:tr h="600075">
                <a:tc>
                  <a:txBody>
                    <a:bodyPr/>
                    <a:lstStyle/>
                    <a:p>
                      <a:pPr algn="l">
                        <a:defRPr sz="1800"/>
                      </a:pPr>
                      <a:r>
                        <a:rPr b="1">
                          <a:solidFill>
                            <a:srgbClr val="FFFFFF"/>
                          </a:solidFill>
                          <a:latin typeface="Arial"/>
                          <a:ea typeface="Arial"/>
                          <a:cs typeface="Arial"/>
                          <a:sym typeface="Arial"/>
                        </a:rPr>
                        <a:t>Date</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Workstream</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c>
                  <a:txBody>
                    <a:bodyPr/>
                    <a:lstStyle/>
                    <a:p>
                      <a:pPr algn="l">
                        <a:defRPr sz="1800"/>
                      </a:pPr>
                      <a:r>
                        <a:rPr b="1">
                          <a:solidFill>
                            <a:srgbClr val="FFFFFF"/>
                          </a:solidFill>
                          <a:latin typeface="Arial"/>
                          <a:ea typeface="Arial"/>
                          <a:cs typeface="Arial"/>
                          <a:sym typeface="Arial"/>
                        </a:rPr>
                        <a:t>Daily deliverable / decision</a:t>
                      </a:r>
                    </a:p>
                  </a:txBody>
                  <a:tcPr marL="114300" marR="114300" marT="114300" marB="114300" anchor="ctr" anchorCtr="0" horzOverflow="overflow">
                    <a:lnL w="12700">
                      <a:miter lim="400000"/>
                    </a:lnL>
                    <a:lnR w="12700">
                      <a:miter lim="400000"/>
                    </a:lnR>
                    <a:lnT w="12700">
                      <a:miter lim="400000"/>
                    </a:lnT>
                    <a:lnB w="12700">
                      <a:miter lim="400000"/>
                    </a:lnB>
                    <a:solidFill>
                      <a:srgbClr val="26353B"/>
                    </a:solidFill>
                  </a:tcPr>
                </a:tc>
              </a:tr>
              <a:tr h="600075">
                <a:tc>
                  <a:txBody>
                    <a:bodyPr/>
                    <a:lstStyle/>
                    <a:p>
                      <a:pPr algn="l">
                        <a:defRPr sz="1800"/>
                      </a:pPr>
                      <a:r>
                        <a:rPr>
                          <a:solidFill>
                            <a:srgbClr val="26353B"/>
                          </a:solidFill>
                          <a:latin typeface="Arial"/>
                          <a:ea typeface="Arial"/>
                          <a:cs typeface="Arial"/>
                          <a:sym typeface="Arial"/>
                        </a:rPr>
                        <a:t>Sep 8</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Proposal and five-page structure</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Confirm FACES placement, POC recruitment and CRM scope</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r h="600075">
                <a:tc>
                  <a:txBody>
                    <a:bodyPr/>
                    <a:lstStyle/>
                    <a:p>
                      <a:pPr algn="l">
                        <a:defRPr sz="1800"/>
                      </a:pPr>
                      <a:r>
                        <a:rPr>
                          <a:solidFill>
                            <a:srgbClr val="26353B"/>
                          </a:solidFill>
                          <a:latin typeface="Arial"/>
                          <a:ea typeface="Arial"/>
                          <a:cs typeface="Arial"/>
                          <a:sym typeface="Arial"/>
                        </a:rPr>
                        <a:t>Sep 9</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Copy, assets and systems</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Provide brand, carbon and technical evidence and access; select CRM</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r>
              <a:tr h="600075">
                <a:tc>
                  <a:txBody>
                    <a:bodyPr/>
                    <a:lstStyle/>
                    <a:p>
                      <a:pPr algn="l">
                        <a:defRPr sz="1800"/>
                      </a:pPr>
                      <a:r>
                        <a:rPr>
                          <a:solidFill>
                            <a:srgbClr val="26353B"/>
                          </a:solidFill>
                          <a:latin typeface="Arial"/>
                          <a:ea typeface="Arial"/>
                          <a:cs typeface="Arial"/>
                          <a:sym typeface="Arial"/>
                        </a:rPr>
                        <a:t>Sep 10</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Homepage and inner-page design</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Approve carbon message and POC recruitment content; start English copy</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r h="600075">
                <a:tc>
                  <a:txBody>
                    <a:bodyPr/>
                    <a:lstStyle/>
                    <a:p>
                      <a:pPr algn="l">
                        <a:defRPr sz="1800"/>
                      </a:pPr>
                      <a:r>
                        <a:rPr>
                          <a:solidFill>
                            <a:srgbClr val="26353B"/>
                          </a:solidFill>
                          <a:latin typeface="Arial"/>
                          <a:ea typeface="Arial"/>
                          <a:cs typeface="Arial"/>
                          <a:sym typeface="Arial"/>
                        </a:rPr>
                        <a:t>Sep 11</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Website build and CRM setup</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Five-page draft, POC form capture and admin workflow</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r>
              <a:tr h="600075">
                <a:tc>
                  <a:txBody>
                    <a:bodyPr/>
                    <a:lstStyle/>
                    <a:p>
                      <a:pPr algn="l">
                        <a:defRPr sz="1800"/>
                      </a:pPr>
                      <a:r>
                        <a:rPr>
                          <a:solidFill>
                            <a:srgbClr val="26353B"/>
                          </a:solidFill>
                          <a:latin typeface="Arial"/>
                          <a:ea typeface="Arial"/>
                          <a:cs typeface="Arial"/>
                          <a:sym typeface="Arial"/>
                        </a:rPr>
                        <a:t>Sep 12</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Bilingual and responsive integration</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Both language previews, mobile layouts, alerts and SEO</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r h="600075">
                <a:tc>
                  <a:txBody>
                    <a:bodyPr/>
                    <a:lstStyle/>
                    <a:p>
                      <a:pPr algn="l">
                        <a:defRPr sz="1800"/>
                      </a:pPr>
                      <a:r>
                        <a:rPr>
                          <a:solidFill>
                            <a:srgbClr val="26353B"/>
                          </a:solidFill>
                          <a:latin typeface="Arial"/>
                          <a:ea typeface="Arial"/>
                          <a:cs typeface="Arial"/>
                          <a:sym typeface="Arial"/>
                        </a:rPr>
                        <a:t>Sep 13</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Client review and consolidated fixes</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c>
                  <a:txBody>
                    <a:bodyPr/>
                    <a:lstStyle/>
                    <a:p>
                      <a:pPr algn="l">
                        <a:defRPr sz="1800"/>
                      </a:pPr>
                      <a:r>
                        <a:rPr>
                          <a:solidFill>
                            <a:srgbClr val="26353B"/>
                          </a:solidFill>
                          <a:latin typeface="Arial"/>
                          <a:ea typeface="Arial"/>
                          <a:cs typeface="Arial"/>
                          <a:sym typeface="Arial"/>
                        </a:rPr>
                        <a:t>Test languages, links, POC form and CRM; approve release</a:t>
                      </a:r>
                    </a:p>
                  </a:txBody>
                  <a:tcPr marL="114300" marR="114300" marT="114300" marB="114300" anchor="ctr" anchorCtr="0" horzOverflow="overflow">
                    <a:lnL w="12700">
                      <a:miter lim="400000"/>
                    </a:lnL>
                    <a:lnR w="12700">
                      <a:miter lim="400000"/>
                    </a:lnR>
                    <a:lnT w="12700">
                      <a:miter lim="400000"/>
                    </a:lnT>
                    <a:lnB w="12700">
                      <a:miter lim="400000"/>
                    </a:lnB>
                    <a:solidFill>
                      <a:srgbClr val="EAF1F0"/>
                    </a:solidFill>
                  </a:tcPr>
                </a:tc>
              </a:tr>
              <a:tr h="600075">
                <a:tc>
                  <a:txBody>
                    <a:bodyPr/>
                    <a:lstStyle/>
                    <a:p>
                      <a:pPr algn="l">
                        <a:defRPr sz="1800"/>
                      </a:pPr>
                      <a:r>
                        <a:rPr>
                          <a:solidFill>
                            <a:srgbClr val="26353B"/>
                          </a:solidFill>
                          <a:latin typeface="Arial"/>
                          <a:ea typeface="Arial"/>
                          <a:cs typeface="Arial"/>
                          <a:sym typeface="Arial"/>
                        </a:rPr>
                        <a:t>Sep 14</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Final checks and delivery</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26353B"/>
                          </a:solidFill>
                          <a:latin typeface="Arial"/>
                          <a:ea typeface="Arial"/>
                          <a:cs typeface="Arial"/>
                          <a:sym typeface="Arial"/>
                        </a:rPr>
                        <a:t>Complete bilingual site and CRM; confirm launch and handover</a:t>
                      </a:r>
                    </a:p>
                  </a:txBody>
                  <a:tcPr marL="114300" marR="114300" marT="114300" marB="114300" anchor="ctr" anchorCtr="0" horzOverflow="overflow">
                    <a:lnL w="12700">
                      <a:miter lim="400000"/>
                    </a:lnL>
                    <a:lnR w="12700">
                      <a:miter lim="400000"/>
                    </a:lnR>
                    <a:lnT w="12700">
                      <a:miter lim="400000"/>
                    </a:lnT>
                    <a:lnB w="12700">
                      <a:miter lim="400000"/>
                    </a:lnB>
                    <a:solidFill>
                      <a:srgbClr val="FFFFFF"/>
                    </a:solidFill>
                  </a:tcPr>
                </a:tc>
              </a:tr>
            </a:tbl>
          </a:graphicData>
        </a:graphic>
      </p:graphicFrame>
      <p:sp>
        <p:nvSpPr>
          <p:cNvPr id="219" name="text-4"/>
          <p:cNvSpPr txBox="1"/>
          <p:nvPr/>
        </p:nvSpPr>
        <p:spPr>
          <a:xfrm>
            <a:off x="685800" y="7286625"/>
            <a:ext cx="13868400" cy="500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647478"/>
                </a:solidFill>
                <a:latin typeface="Arial"/>
                <a:ea typeface="Arial"/>
                <a:cs typeface="Arial"/>
                <a:sym typeface="Arial"/>
              </a:defRPr>
            </a:pPr>
            <a:r>
              <a:t>Schedule assumptions: assets, access and CRM choice by Sep 9; same-day client decisions; one consolidated revision round.</a:t>
            </a:r>
          </a:p>
          <a:p>
            <a:pPr>
              <a:defRPr sz="1700">
                <a:solidFill>
                  <a:srgbClr val="647478"/>
                </a:solidFill>
                <a:latin typeface="Arial"/>
                <a:ea typeface="Arial"/>
                <a:cs typeface="Arial"/>
                <a:sym typeface="Arial"/>
              </a:defRPr>
            </a:pPr>
            <a:r>
              <a:t>Delays to critical inputs or access require a scope or date adjustment.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